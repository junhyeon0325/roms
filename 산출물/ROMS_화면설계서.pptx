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206240" cy="4206240"/>
          </a:xfrm>
          <a:prstGeom prst="ellipse">
            <a:avLst/>
          </a:prstGeom>
          <a:solidFill>
            <a:srgbClr val="1B2340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274320"/>
            <a:ext cx="2743200" cy="2743200"/>
          </a:xfrm>
          <a:prstGeom prst="ellipse">
            <a:avLst/>
          </a:prstGeom>
          <a:solidFill>
            <a:srgbClr val="FF9F1C">
              <a:alpha val="18000"/>
            </a:srgbClr>
          </a:solidFill>
          <a:ln w="19050">
            <a:solidFill>
              <a:srgbClr val="FF9F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0" y="1371600"/>
            <a:ext cx="1280160" cy="1280160"/>
          </a:xfrm>
          <a:prstGeom prst="ellipse">
            <a:avLst/>
          </a:prstGeom>
          <a:solidFill>
            <a:srgbClr val="FF9F1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394960"/>
            <a:ext cx="475488" cy="292608"/>
          </a:xfrm>
          <a:prstGeom prst="roundRect">
            <a:avLst>
              <a:gd name="adj" fmla="val 9375"/>
            </a:avLst>
          </a:prstGeom>
          <a:solidFill>
            <a:srgbClr val="FF9F1C"/>
          </a:solidFill>
          <a:ln w="9525">
            <a:solidFill>
              <a:srgbClr val="2A33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" y="5394960"/>
            <a:ext cx="475488" cy="292608"/>
          </a:xfrm>
          <a:prstGeom prst="roundRect">
            <a:avLst>
              <a:gd name="adj" fmla="val 9375"/>
            </a:avLst>
          </a:prstGeom>
          <a:solidFill>
            <a:srgbClr val="1B2340"/>
          </a:solidFill>
          <a:ln w="9525">
            <a:solidFill>
              <a:srgbClr val="2A33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5394960"/>
            <a:ext cx="475488" cy="292608"/>
          </a:xfrm>
          <a:prstGeom prst="roundRect">
            <a:avLst>
              <a:gd name="adj" fmla="val 9375"/>
            </a:avLst>
          </a:prstGeom>
          <a:solidFill>
            <a:srgbClr val="1B2340"/>
          </a:solidFill>
          <a:ln w="9525">
            <a:solidFill>
              <a:srgbClr val="2A33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9424" y="5394960"/>
            <a:ext cx="475488" cy="292608"/>
          </a:xfrm>
          <a:prstGeom prst="roundRect">
            <a:avLst>
              <a:gd name="adj" fmla="val 9375"/>
            </a:avLst>
          </a:prstGeom>
          <a:solidFill>
            <a:srgbClr val="1B2340"/>
          </a:solidFill>
          <a:ln w="9525">
            <a:solidFill>
              <a:srgbClr val="2A33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16352" y="5394960"/>
            <a:ext cx="475488" cy="292608"/>
          </a:xfrm>
          <a:prstGeom prst="roundRect">
            <a:avLst>
              <a:gd name="adj" fmla="val 9375"/>
            </a:avLst>
          </a:prstGeom>
          <a:solidFill>
            <a:srgbClr val="1B2340"/>
          </a:solidFill>
          <a:ln w="9525">
            <a:solidFill>
              <a:srgbClr val="2A33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5779008"/>
            <a:ext cx="475488" cy="292608"/>
          </a:xfrm>
          <a:prstGeom prst="roundRect">
            <a:avLst>
              <a:gd name="adj" fmla="val 9375"/>
            </a:avLst>
          </a:prstGeom>
          <a:solidFill>
            <a:srgbClr val="1B2340"/>
          </a:solidFill>
          <a:ln w="9525">
            <a:solidFill>
              <a:srgbClr val="2A33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" y="5779008"/>
            <a:ext cx="475488" cy="292608"/>
          </a:xfrm>
          <a:prstGeom prst="roundRect">
            <a:avLst>
              <a:gd name="adj" fmla="val 9375"/>
            </a:avLst>
          </a:prstGeom>
          <a:solidFill>
            <a:srgbClr val="1B2340"/>
          </a:solidFill>
          <a:ln w="9525">
            <a:solidFill>
              <a:srgbClr val="2A33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82496" y="5779008"/>
            <a:ext cx="475488" cy="292608"/>
          </a:xfrm>
          <a:prstGeom prst="roundRect">
            <a:avLst>
              <a:gd name="adj" fmla="val 9375"/>
            </a:avLst>
          </a:prstGeom>
          <a:solidFill>
            <a:srgbClr val="1B2340"/>
          </a:solidFill>
          <a:ln w="9525">
            <a:solidFill>
              <a:srgbClr val="2A33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49424" y="5779008"/>
            <a:ext cx="475488" cy="292608"/>
          </a:xfrm>
          <a:prstGeom prst="roundRect">
            <a:avLst>
              <a:gd name="adj" fmla="val 9375"/>
            </a:avLst>
          </a:prstGeom>
          <a:solidFill>
            <a:srgbClr val="1B2340"/>
          </a:solidFill>
          <a:ln w="9525">
            <a:solidFill>
              <a:srgbClr val="2A33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16352" y="5779008"/>
            <a:ext cx="475488" cy="292608"/>
          </a:xfrm>
          <a:prstGeom prst="roundRect">
            <a:avLst>
              <a:gd name="adj" fmla="val 9375"/>
            </a:avLst>
          </a:prstGeom>
          <a:solidFill>
            <a:srgbClr val="1B2340"/>
          </a:solidFill>
          <a:ln w="9525">
            <a:solidFill>
              <a:srgbClr val="2A33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6163056"/>
            <a:ext cx="475488" cy="292608"/>
          </a:xfrm>
          <a:prstGeom prst="roundRect">
            <a:avLst>
              <a:gd name="adj" fmla="val 9375"/>
            </a:avLst>
          </a:prstGeom>
          <a:solidFill>
            <a:srgbClr val="1B2340"/>
          </a:solidFill>
          <a:ln w="9525">
            <a:solidFill>
              <a:srgbClr val="2A33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5568" y="6163056"/>
            <a:ext cx="475488" cy="292608"/>
          </a:xfrm>
          <a:prstGeom prst="roundRect">
            <a:avLst>
              <a:gd name="adj" fmla="val 9375"/>
            </a:avLst>
          </a:prstGeom>
          <a:solidFill>
            <a:srgbClr val="1B2340"/>
          </a:solidFill>
          <a:ln w="9525">
            <a:solidFill>
              <a:srgbClr val="2A33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82496" y="6163056"/>
            <a:ext cx="475488" cy="292608"/>
          </a:xfrm>
          <a:prstGeom prst="roundRect">
            <a:avLst>
              <a:gd name="adj" fmla="val 9375"/>
            </a:avLst>
          </a:prstGeom>
          <a:solidFill>
            <a:srgbClr val="1B2340"/>
          </a:solidFill>
          <a:ln w="9525">
            <a:solidFill>
              <a:srgbClr val="2A33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49424" y="6163056"/>
            <a:ext cx="475488" cy="292608"/>
          </a:xfrm>
          <a:prstGeom prst="roundRect">
            <a:avLst>
              <a:gd name="adj" fmla="val 9375"/>
            </a:avLst>
          </a:prstGeom>
          <a:solidFill>
            <a:srgbClr val="1B2340"/>
          </a:solidFill>
          <a:ln w="9525">
            <a:solidFill>
              <a:srgbClr val="2A33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16352" y="6163056"/>
            <a:ext cx="475488" cy="292608"/>
          </a:xfrm>
          <a:prstGeom prst="roundRect">
            <a:avLst>
              <a:gd name="adj" fmla="val 9375"/>
            </a:avLst>
          </a:prstGeom>
          <a:solidFill>
            <a:srgbClr val="1B2340"/>
          </a:solidFill>
          <a:ln w="9525">
            <a:solidFill>
              <a:srgbClr val="2A33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148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ROMS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566928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Runner's Overwatch Match System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33832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화면설계서 (Screen / UI Design Specification)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66928" y="39776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오버워치 e스포츠 아카이브 및 대시보드 시스템 — 사용자 포털 4개 화면 · 관리자 포털 4개 화면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4709160"/>
            <a:ext cx="5669280" cy="0"/>
          </a:xfrm>
          <a:prstGeom prst="line">
            <a:avLst/>
          </a:prstGeom>
          <a:noFill/>
          <a:ln w="12700">
            <a:solidFill>
              <a:srgbClr val="2A33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864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버전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286000" y="4864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6928" y="51572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작성일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286000" y="51572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2026-07-30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6928" y="54498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 산출물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286000" y="54498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요구사항정의서 v1.4 · 메뉴구성도 v1.0 · ERD v1.4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목차 및 문서 개요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5855" cy="0"/>
          </a:xfrm>
          <a:prstGeom prst="line">
            <a:avLst/>
          </a:prstGeom>
          <a:noFill/>
          <a:ln w="12700">
            <a:solidFill>
              <a:srgbClr val="2A33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74175" y="65288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ROMS 화면설계서 v1.0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사이트맵 (Information Architecture)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929384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화면 목록 (Screen List)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350008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메인 대시보드 (SCR-001)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770632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스트리머 상세 (SCR-002)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91256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시즌 아카이브 (SCR-003)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97880" y="1508760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세트 상세 팝업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97880" y="1929384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통합 랭킹 (SCR-004)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97880" y="2350008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관리자 화면 (SCR-005 ~ 007)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97880" y="2770632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 로그인 (SCR-008)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97880" y="3191256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화면 흐름 및 권한 매트릭스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577840" y="1463040"/>
            <a:ext cx="0" cy="2148840"/>
          </a:xfrm>
          <a:prstGeom prst="line">
            <a:avLst/>
          </a:prstGeom>
          <a:noFill/>
          <a:ln w="12700">
            <a:solidFill>
              <a:srgbClr val="2A33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977640"/>
            <a:ext cx="11201400" cy="2331720"/>
          </a:xfrm>
          <a:prstGeom prst="roundRect">
            <a:avLst>
              <a:gd name="adj" fmla="val 3137"/>
            </a:avLst>
          </a:prstGeom>
          <a:solidFill>
            <a:srgbClr val="141B2E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4178808"/>
            <a:ext cx="10689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문서 개요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8952" y="4599432"/>
            <a:ext cx="10689336" cy="0"/>
          </a:xfrm>
          <a:prstGeom prst="line">
            <a:avLst/>
          </a:prstGeom>
          <a:noFill/>
          <a:ln w="12700">
            <a:solidFill>
              <a:srgbClr val="2A33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" y="4764024"/>
            <a:ext cx="274320" cy="2743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" y="4764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61288" y="4727448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프로젝트명 · ROMS (오버워치 e스포츠 아카이브 및 대시보드 시스템)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61288" y="5020056"/>
            <a:ext cx="102870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러너리그 시즌1~4, 라이벌클래시 경기기록·대진표·전적·통계 통합 관리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58952" y="5236464"/>
            <a:ext cx="274320" cy="2743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" y="5236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61288" y="5199888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 산출물 · 요구사항정의서 v1.4 (CM-001~AD-004), 메뉴구성도 v1.0, ERD v1.4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61288" y="5492496"/>
            <a:ext cx="102870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8종(User 4 · Admin 4) 전체에 대한 와이어프레임 및 요구사항 매핑 수록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58952" y="5708904"/>
            <a:ext cx="274320" cy="2743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29" name="Text 27"/>
          <p:cNvSpPr/>
          <p:nvPr/>
        </p:nvSpPr>
        <p:spPr>
          <a:xfrm>
            <a:off x="758952" y="5708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61288" y="5672328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 환경 · Next.js 14+ App Router, Supabase(PostgreSQL·Storage), Prisma ORM, NextAuth.js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61288" y="5964936"/>
            <a:ext cx="102870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화면별 URL 경로는 App Router 파일 규칙 기준으로 표기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사이트맵 (메뉴 구성도)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5855" cy="0"/>
          </a:xfrm>
          <a:prstGeom prst="line">
            <a:avLst/>
          </a:prstGeom>
          <a:noFill/>
          <a:ln w="12700">
            <a:solidFill>
              <a:srgbClr val="2A33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74175" y="65288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ROMS 화면설계서 v1.0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138928" y="1417320"/>
            <a:ext cx="1920240" cy="457200"/>
          </a:xfrm>
          <a:prstGeom prst="roundRect">
            <a:avLst>
              <a:gd name="adj" fmla="val 14000"/>
            </a:avLst>
          </a:prstGeom>
          <a:solidFill>
            <a:srgbClr val="141B2E"/>
          </a:solidFill>
          <a:ln w="15875">
            <a:solidFill>
              <a:srgbClr val="3A8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141732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ROMS ( '/' 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9048" y="1874520"/>
            <a:ext cx="0" cy="274320"/>
          </a:xfrm>
          <a:prstGeom prst="line">
            <a:avLst/>
          </a:prstGeom>
          <a:noFill/>
          <a:ln w="15875">
            <a:solidFill>
              <a:srgbClr val="2A33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2148840"/>
            <a:ext cx="6492240" cy="0"/>
          </a:xfrm>
          <a:prstGeom prst="line">
            <a:avLst/>
          </a:prstGeom>
          <a:noFill/>
          <a:ln w="15875">
            <a:solidFill>
              <a:srgbClr val="2A33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2148840"/>
            <a:ext cx="0" cy="228600"/>
          </a:xfrm>
          <a:prstGeom prst="line">
            <a:avLst/>
          </a:prstGeom>
          <a:noFill/>
          <a:ln w="15875">
            <a:solidFill>
              <a:srgbClr val="2A33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0" y="2148840"/>
            <a:ext cx="0" cy="228600"/>
          </a:xfrm>
          <a:prstGeom prst="line">
            <a:avLst/>
          </a:prstGeom>
          <a:noFill/>
          <a:ln w="15875">
            <a:solidFill>
              <a:srgbClr val="2A33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91640" y="2377440"/>
            <a:ext cx="2286000" cy="457200"/>
          </a:xfrm>
          <a:prstGeom prst="roundRect">
            <a:avLst>
              <a:gd name="adj" fmla="val 14000"/>
            </a:avLst>
          </a:prstGeom>
          <a:solidFill>
            <a:srgbClr val="1D3A2E"/>
          </a:solidFill>
          <a:ln w="15875">
            <a:solidFill>
              <a:srgbClr val="3ED59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64792" y="237744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User Portal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83880" y="2377440"/>
            <a:ext cx="2286000" cy="457200"/>
          </a:xfrm>
          <a:prstGeom prst="roundRect">
            <a:avLst>
              <a:gd name="adj" fmla="val 14000"/>
            </a:avLst>
          </a:prstGeom>
          <a:solidFill>
            <a:srgbClr val="3A1F26"/>
          </a:solidFill>
          <a:ln w="15875">
            <a:solidFill>
              <a:srgbClr val="FF9F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7032" y="237744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Admin Portal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834640" y="2834640"/>
            <a:ext cx="0" cy="228600"/>
          </a:xfrm>
          <a:prstGeom prst="line">
            <a:avLst/>
          </a:prstGeom>
          <a:noFill/>
          <a:ln w="15875">
            <a:solidFill>
              <a:srgbClr val="2A33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0" y="2834640"/>
            <a:ext cx="0" cy="228600"/>
          </a:xfrm>
          <a:prstGeom prst="line">
            <a:avLst/>
          </a:prstGeom>
          <a:noFill/>
          <a:ln w="15875">
            <a:solidFill>
              <a:srgbClr val="2A33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4640" y="3063240"/>
            <a:ext cx="0" cy="0"/>
          </a:xfrm>
          <a:prstGeom prst="line">
            <a:avLst/>
          </a:prstGeom>
          <a:noFill/>
          <a:ln w="15875">
            <a:solidFill>
              <a:srgbClr val="2A33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4640" y="3063240"/>
            <a:ext cx="0" cy="274320"/>
          </a:xfrm>
          <a:prstGeom prst="line">
            <a:avLst/>
          </a:prstGeom>
          <a:noFill/>
          <a:ln w="15875">
            <a:solidFill>
              <a:srgbClr val="2A33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063240"/>
            <a:ext cx="4663440" cy="640080"/>
          </a:xfrm>
          <a:prstGeom prst="roundRect">
            <a:avLst>
              <a:gd name="adj" fmla="val 8571"/>
            </a:avLst>
          </a:prstGeom>
          <a:solidFill>
            <a:srgbClr val="141B2E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" y="3163824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1D3A2E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" y="316382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SCR-001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508760" y="31181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대시보드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508760" y="33924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834640" y="2834640"/>
            <a:ext cx="0" cy="1289304"/>
          </a:xfrm>
          <a:prstGeom prst="line">
            <a:avLst/>
          </a:prstGeom>
          <a:noFill/>
          <a:ln w="15875">
            <a:solidFill>
              <a:srgbClr val="2A335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849624"/>
            <a:ext cx="4663440" cy="640080"/>
          </a:xfrm>
          <a:prstGeom prst="roundRect">
            <a:avLst>
              <a:gd name="adj" fmla="val 8571"/>
            </a:avLst>
          </a:prstGeom>
          <a:solidFill>
            <a:srgbClr val="141B2E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" y="3950208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1D3A2E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" y="39502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SCR-002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508760" y="3904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스트리머 상세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508760" y="41788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/streamer/[id]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834640" y="2834640"/>
            <a:ext cx="0" cy="2075688"/>
          </a:xfrm>
          <a:prstGeom prst="line">
            <a:avLst/>
          </a:prstGeom>
          <a:noFill/>
          <a:ln w="15875">
            <a:solidFill>
              <a:srgbClr val="2A335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636008"/>
            <a:ext cx="4663440" cy="640080"/>
          </a:xfrm>
          <a:prstGeom prst="roundRect">
            <a:avLst>
              <a:gd name="adj" fmla="val 8571"/>
            </a:avLst>
          </a:prstGeom>
          <a:solidFill>
            <a:srgbClr val="141B2E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" y="4736592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1D3A2E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" y="473659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SCR-003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508760" y="46908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 아카이브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508760" y="4965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/season/[id]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4640" y="2834640"/>
            <a:ext cx="0" cy="2862072"/>
          </a:xfrm>
          <a:prstGeom prst="line">
            <a:avLst/>
          </a:prstGeom>
          <a:noFill/>
          <a:ln w="15875">
            <a:solidFill>
              <a:srgbClr val="2A335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" y="5422392"/>
            <a:ext cx="4663440" cy="640080"/>
          </a:xfrm>
          <a:prstGeom prst="roundRect">
            <a:avLst>
              <a:gd name="adj" fmla="val 8571"/>
            </a:avLst>
          </a:prstGeom>
          <a:solidFill>
            <a:srgbClr val="141B2E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" y="5522976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1D3A2E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" y="552297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SCR-004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508760" y="54772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랭킹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508760" y="57515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/ranking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326880" y="3063240"/>
            <a:ext cx="0" cy="274320"/>
          </a:xfrm>
          <a:prstGeom prst="line">
            <a:avLst/>
          </a:prstGeom>
          <a:noFill/>
          <a:ln w="15875">
            <a:solidFill>
              <a:srgbClr val="2A335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95160" y="3063240"/>
            <a:ext cx="4663440" cy="640080"/>
          </a:xfrm>
          <a:prstGeom prst="roundRect">
            <a:avLst>
              <a:gd name="adj" fmla="val 8571"/>
            </a:avLst>
          </a:prstGeom>
          <a:solidFill>
            <a:srgbClr val="141B2E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23176" y="3163824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3A1F26"/>
          </a:solidFill>
          <a:ln/>
        </p:spPr>
      </p:sp>
      <p:sp>
        <p:nvSpPr>
          <p:cNvPr id="47" name="Text 45"/>
          <p:cNvSpPr/>
          <p:nvPr/>
        </p:nvSpPr>
        <p:spPr>
          <a:xfrm>
            <a:off x="7123176" y="316382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SCR-008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001000" y="31181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로그인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8001000" y="33924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/auth/login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326880" y="2834640"/>
            <a:ext cx="0" cy="1289304"/>
          </a:xfrm>
          <a:prstGeom prst="line">
            <a:avLst/>
          </a:prstGeom>
          <a:noFill/>
          <a:ln w="15875">
            <a:solidFill>
              <a:srgbClr val="2A335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995160" y="3849624"/>
            <a:ext cx="4663440" cy="640080"/>
          </a:xfrm>
          <a:prstGeom prst="roundRect">
            <a:avLst>
              <a:gd name="adj" fmla="val 8571"/>
            </a:avLst>
          </a:prstGeom>
          <a:solidFill>
            <a:srgbClr val="141B2E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123176" y="3950208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3A1F26"/>
          </a:solidFill>
          <a:ln/>
        </p:spPr>
      </p:sp>
      <p:sp>
        <p:nvSpPr>
          <p:cNvPr id="53" name="Text 51"/>
          <p:cNvSpPr/>
          <p:nvPr/>
        </p:nvSpPr>
        <p:spPr>
          <a:xfrm>
            <a:off x="7123176" y="39502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SCR-005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001000" y="3904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 &amp; 팀 관리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8001000" y="41788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/admin/season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326880" y="2834640"/>
            <a:ext cx="0" cy="2075688"/>
          </a:xfrm>
          <a:prstGeom prst="line">
            <a:avLst/>
          </a:prstGeom>
          <a:noFill/>
          <a:ln w="15875">
            <a:solidFill>
              <a:srgbClr val="2A335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95160" y="4636008"/>
            <a:ext cx="4663440" cy="640080"/>
          </a:xfrm>
          <a:prstGeom prst="roundRect">
            <a:avLst>
              <a:gd name="adj" fmla="val 8571"/>
            </a:avLst>
          </a:prstGeom>
          <a:solidFill>
            <a:srgbClr val="141B2E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123176" y="4736592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3A1F26"/>
          </a:solidFill>
          <a:ln/>
        </p:spPr>
      </p:sp>
      <p:sp>
        <p:nvSpPr>
          <p:cNvPr id="59" name="Text 57"/>
          <p:cNvSpPr/>
          <p:nvPr/>
        </p:nvSpPr>
        <p:spPr>
          <a:xfrm>
            <a:off x="7123176" y="473659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SCR-006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8001000" y="46908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선수 배정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8001000" y="4965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/admin/roster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9326880" y="2834640"/>
            <a:ext cx="0" cy="2862072"/>
          </a:xfrm>
          <a:prstGeom prst="line">
            <a:avLst/>
          </a:prstGeom>
          <a:noFill/>
          <a:ln w="15875">
            <a:solidFill>
              <a:srgbClr val="2A335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995160" y="5422392"/>
            <a:ext cx="4663440" cy="640080"/>
          </a:xfrm>
          <a:prstGeom prst="roundRect">
            <a:avLst>
              <a:gd name="adj" fmla="val 8571"/>
            </a:avLst>
          </a:prstGeom>
          <a:solidFill>
            <a:srgbClr val="141B2E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123176" y="5522976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3A1F26"/>
          </a:solidFill>
          <a:ln/>
        </p:spPr>
      </p:sp>
      <p:sp>
        <p:nvSpPr>
          <p:cNvPr id="65" name="Text 63"/>
          <p:cNvSpPr/>
          <p:nvPr/>
        </p:nvSpPr>
        <p:spPr>
          <a:xfrm>
            <a:off x="7123176" y="552297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SCR-007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8001000" y="54772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경기 스탯 입력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8001000" y="57515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/admin/match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02920" y="6355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— 로그인 없이 접근 가능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995160" y="6355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권한 전용 — SCR-005~007 (SCR-008 로그인 화면만 Public)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LIST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화면 목록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5855" cy="0"/>
          </a:xfrm>
          <a:prstGeom prst="line">
            <a:avLst/>
          </a:prstGeom>
          <a:noFill/>
          <a:ln w="12700">
            <a:solidFill>
              <a:srgbClr val="2A33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74175" y="65288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ROMS 화면설계서 v1.0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1185855" cy="365760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17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화면ID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91640" y="1417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화면명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1188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경로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89320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99516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 요약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195560" y="14173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1783080"/>
            <a:ext cx="11185855" cy="530352"/>
          </a:xfrm>
          <a:prstGeom prst="rect">
            <a:avLst/>
          </a:prstGeom>
          <a:solidFill>
            <a:srgbClr val="141B2E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78308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SCR-001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691640" y="178308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대시보드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11880" y="17830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89320" y="178308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995160" y="178308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검색바·바로가기·13종 리더보드 카드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195560" y="178308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CM-001, US-001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231343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SCR-002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691640" y="231343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스트리머 상세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11880" y="231343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/streamer/[id]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89320" y="2313432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995160" y="231343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프로필·개요/업적/결과/맵/1v1비교 5탭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195560" y="231343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US-001~006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2920" y="2843784"/>
            <a:ext cx="11185855" cy="530352"/>
          </a:xfrm>
          <a:prstGeom prst="rect">
            <a:avLst/>
          </a:prstGeom>
          <a:solidFill>
            <a:srgbClr val="141B2E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284378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SCR-003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691640" y="284378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 아카이브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11880" y="284378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/season/[id]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89320" y="2843784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95160" y="284378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대진표·일정&amp;결과·참가팀&amp;맵풀·시즌통계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195560" y="2843784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US-002, 008~013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2920" y="3374136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SCR-004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691640" y="337413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랭킹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611880" y="337413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/ranking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989320" y="337413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995160" y="337413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선수/영웅/맵 통합 순위 리더보드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195560" y="337413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US-007, US-011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02920" y="3904488"/>
            <a:ext cx="11185855" cy="530352"/>
          </a:xfrm>
          <a:prstGeom prst="rect">
            <a:avLst/>
          </a:prstGeom>
          <a:solidFill>
            <a:srgbClr val="141B2E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390448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SCR-008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691640" y="390448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로그인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611880" y="39044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/auth/login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989320" y="390448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995160" y="390448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NextAuth.js Credentials 인증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0195560" y="390448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CM-002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02920" y="443484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SCR-005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691640" y="443484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 &amp; 팀 관리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611880" y="44348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/admin/season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989320" y="443484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995160" y="443484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 생성, 로고/엠블럼 업로드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0195560" y="443484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AD-001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02920" y="4965192"/>
            <a:ext cx="11185855" cy="530352"/>
          </a:xfrm>
          <a:prstGeom prst="rect">
            <a:avLst/>
          </a:prstGeom>
          <a:solidFill>
            <a:srgbClr val="141B2E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" y="496519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SCR-006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1691640" y="496519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선수 배정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3611880" y="496519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/admin/roster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989320" y="4965192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995160" y="496519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스트리머 시즌팀 배정, 포지션 설정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10195560" y="496519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AD-002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02920" y="549554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SCR-007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691640" y="549554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경기 스탯 입력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3611880" y="549554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/admin/match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989320" y="5495544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995160" y="549554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매치/세트/영웅밴/선수 스탯 입력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0195560" y="5495544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AD-003, AD-004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02920" y="1417320"/>
            <a:ext cx="0" cy="4608576"/>
          </a:xfrm>
          <a:prstGeom prst="line">
            <a:avLst/>
          </a:prstGeom>
          <a:noFill/>
          <a:ln w="12700">
            <a:solidFill>
              <a:srgbClr val="2A335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688775" y="1417320"/>
            <a:ext cx="0" cy="4608576"/>
          </a:xfrm>
          <a:prstGeom prst="line">
            <a:avLst/>
          </a:prstGeom>
          <a:noFill/>
          <a:ln w="12700">
            <a:solidFill>
              <a:srgbClr val="2A3352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메인 대시보드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814255" y="4572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1B2340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11185855" cy="0"/>
          </a:xfrm>
          <a:prstGeom prst="line">
            <a:avLst/>
          </a:prstGeom>
          <a:noFill/>
          <a:ln w="12700">
            <a:solidFill>
              <a:srgbClr val="2A33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74175" y="65288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ROMS 화면설계서 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371600"/>
            <a:ext cx="708660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7DBE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371600"/>
            <a:ext cx="7086600" cy="329184"/>
          </a:xfrm>
          <a:prstGeom prst="roundRect">
            <a:avLst>
              <a:gd name="adj" fmla="val 16667"/>
            </a:avLst>
          </a:prstGeom>
          <a:solidFill>
            <a:srgbClr val="EDEFF4"/>
          </a:solidFill>
          <a:ln w="9525">
            <a:solidFill>
              <a:srgbClr val="D7DB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627632"/>
            <a:ext cx="7086600" cy="73152"/>
          </a:xfrm>
          <a:prstGeom prst="rect">
            <a:avLst/>
          </a:prstGeom>
          <a:solidFill>
            <a:srgbClr val="EDEFF4"/>
          </a:solidFill>
          <a:ln/>
        </p:spPr>
      </p:sp>
      <p:sp>
        <p:nvSpPr>
          <p:cNvPr id="12" name="Shape 10"/>
          <p:cNvSpPr/>
          <p:nvPr/>
        </p:nvSpPr>
        <p:spPr>
          <a:xfrm>
            <a:off x="649224" y="1485900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11"/>
          <p:cNvSpPr/>
          <p:nvPr/>
        </p:nvSpPr>
        <p:spPr>
          <a:xfrm>
            <a:off x="832104" y="1485900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4984" y="1485900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1426464"/>
            <a:ext cx="589788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7DB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1426464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8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roms.app/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7240" y="1929384"/>
            <a:ext cx="653796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" y="1929384"/>
            <a:ext cx="6428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 스트리머명 또는 닉네임 검색...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" y="2496312"/>
            <a:ext cx="708660" cy="365760"/>
          </a:xfrm>
          <a:prstGeom prst="roundRect">
            <a:avLst>
              <a:gd name="adj" fmla="val 50000"/>
            </a:avLst>
          </a:prstGeom>
          <a:solidFill>
            <a:srgbClr val="E9ECF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2496312"/>
            <a:ext cx="708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77340" y="2496312"/>
            <a:ext cx="708660" cy="365760"/>
          </a:xfrm>
          <a:prstGeom prst="roundRect">
            <a:avLst>
              <a:gd name="adj" fmla="val 50000"/>
            </a:avLst>
          </a:prstGeom>
          <a:solidFill>
            <a:srgbClr val="E9ECF3"/>
          </a:solidFill>
          <a:ln/>
        </p:spPr>
      </p:sp>
      <p:sp>
        <p:nvSpPr>
          <p:cNvPr id="22" name="Text 20"/>
          <p:cNvSpPr/>
          <p:nvPr/>
        </p:nvSpPr>
        <p:spPr>
          <a:xfrm>
            <a:off x="1577340" y="2496312"/>
            <a:ext cx="708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377440" y="2496312"/>
            <a:ext cx="708660" cy="365760"/>
          </a:xfrm>
          <a:prstGeom prst="roundRect">
            <a:avLst>
              <a:gd name="adj" fmla="val 50000"/>
            </a:avLst>
          </a:prstGeom>
          <a:solidFill>
            <a:srgbClr val="E9ECF3"/>
          </a:solidFill>
          <a:ln/>
        </p:spPr>
      </p:sp>
      <p:sp>
        <p:nvSpPr>
          <p:cNvPr id="24" name="Text 22"/>
          <p:cNvSpPr/>
          <p:nvPr/>
        </p:nvSpPr>
        <p:spPr>
          <a:xfrm>
            <a:off x="2377440" y="2496312"/>
            <a:ext cx="708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77540" y="2496312"/>
            <a:ext cx="708660" cy="365760"/>
          </a:xfrm>
          <a:prstGeom prst="roundRect">
            <a:avLst>
              <a:gd name="adj" fmla="val 50000"/>
            </a:avLst>
          </a:prstGeom>
          <a:solidFill>
            <a:srgbClr val="E9ECF3"/>
          </a:solidFill>
          <a:ln/>
        </p:spPr>
      </p:sp>
      <p:sp>
        <p:nvSpPr>
          <p:cNvPr id="26" name="Text 24"/>
          <p:cNvSpPr/>
          <p:nvPr/>
        </p:nvSpPr>
        <p:spPr>
          <a:xfrm>
            <a:off x="3177540" y="2496312"/>
            <a:ext cx="708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977640" y="2496312"/>
            <a:ext cx="708660" cy="365760"/>
          </a:xfrm>
          <a:prstGeom prst="roundRect">
            <a:avLst>
              <a:gd name="adj" fmla="val 50000"/>
            </a:avLst>
          </a:prstGeom>
          <a:solidFill>
            <a:srgbClr val="E9ECF3"/>
          </a:solidFill>
          <a:ln/>
        </p:spPr>
      </p:sp>
      <p:sp>
        <p:nvSpPr>
          <p:cNvPr id="28" name="Text 26"/>
          <p:cNvSpPr/>
          <p:nvPr/>
        </p:nvSpPr>
        <p:spPr>
          <a:xfrm>
            <a:off x="3977640" y="2496312"/>
            <a:ext cx="708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라이벌클래시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77740" y="2496312"/>
            <a:ext cx="708660" cy="365760"/>
          </a:xfrm>
          <a:prstGeom prst="roundRect">
            <a:avLst>
              <a:gd name="adj" fmla="val 50000"/>
            </a:avLst>
          </a:prstGeom>
          <a:solidFill>
            <a:srgbClr val="FF9F1C"/>
          </a:solidFill>
          <a:ln/>
        </p:spPr>
      </p:sp>
      <p:sp>
        <p:nvSpPr>
          <p:cNvPr id="30" name="Text 28"/>
          <p:cNvSpPr/>
          <p:nvPr/>
        </p:nvSpPr>
        <p:spPr>
          <a:xfrm>
            <a:off x="4777740" y="2496312"/>
            <a:ext cx="708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통합랭킹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" y="3063240"/>
            <a:ext cx="6537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시즌 통합 지표 · 13종 리더보드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77240" y="3337560"/>
            <a:ext cx="1219810" cy="713232"/>
          </a:xfrm>
          <a:prstGeom prst="roundRect">
            <a:avLst>
              <a:gd name="adj" fmla="val 6410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0392" y="3410712"/>
            <a:ext cx="274320" cy="274320"/>
          </a:xfrm>
          <a:prstGeom prst="ellipse">
            <a:avLst/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0392" y="3666744"/>
            <a:ext cx="10735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12회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0392" y="3867912"/>
            <a:ext cx="10735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우승횟수 Top5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2106778" y="3337560"/>
            <a:ext cx="1219810" cy="713232"/>
          </a:xfrm>
          <a:prstGeom prst="roundRect">
            <a:avLst>
              <a:gd name="adj" fmla="val 6410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79930" y="3410712"/>
            <a:ext cx="274320" cy="274320"/>
          </a:xfrm>
          <a:prstGeom prst="ellipse">
            <a:avLst/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79930" y="3666744"/>
            <a:ext cx="10735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179930" y="3867912"/>
            <a:ext cx="10735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최다 처치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3436315" y="3337560"/>
            <a:ext cx="1219810" cy="713232"/>
          </a:xfrm>
          <a:prstGeom prst="roundRect">
            <a:avLst>
              <a:gd name="adj" fmla="val 6410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09467" y="3410712"/>
            <a:ext cx="274320" cy="274320"/>
          </a:xfrm>
          <a:prstGeom prst="ellipse">
            <a:avLst/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09467" y="3666744"/>
            <a:ext cx="10735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509467" y="3867912"/>
            <a:ext cx="10735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최다 도움</a:t>
            </a:r>
            <a:endParaRPr lang="en-US" sz="680" dirty="0"/>
          </a:p>
        </p:txBody>
      </p:sp>
      <p:sp>
        <p:nvSpPr>
          <p:cNvPr id="44" name="Shape 42"/>
          <p:cNvSpPr/>
          <p:nvPr/>
        </p:nvSpPr>
        <p:spPr>
          <a:xfrm>
            <a:off x="4765853" y="3337560"/>
            <a:ext cx="1219810" cy="713232"/>
          </a:xfrm>
          <a:prstGeom prst="roundRect">
            <a:avLst>
              <a:gd name="adj" fmla="val 6410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39005" y="3410712"/>
            <a:ext cx="274320" cy="274320"/>
          </a:xfrm>
          <a:prstGeom prst="ellipse">
            <a:avLst/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39005" y="3666744"/>
            <a:ext cx="10735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39005" y="3867912"/>
            <a:ext cx="10735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최다 죽음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6095390" y="3337560"/>
            <a:ext cx="1219810" cy="713232"/>
          </a:xfrm>
          <a:prstGeom prst="roundRect">
            <a:avLst>
              <a:gd name="adj" fmla="val 6410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68542" y="3410712"/>
            <a:ext cx="274320" cy="274320"/>
          </a:xfrm>
          <a:prstGeom prst="ellipse">
            <a:avLst/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68542" y="3666744"/>
            <a:ext cx="10735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18.2K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168542" y="3867912"/>
            <a:ext cx="10735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최다 피해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777240" y="4160520"/>
            <a:ext cx="1219810" cy="713232"/>
          </a:xfrm>
          <a:prstGeom prst="roundRect">
            <a:avLst>
              <a:gd name="adj" fmla="val 6410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0392" y="4233672"/>
            <a:ext cx="274320" cy="274320"/>
          </a:xfrm>
          <a:prstGeom prst="ellipse">
            <a:avLst/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0392" y="4489704"/>
            <a:ext cx="10735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14.6K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50392" y="4690872"/>
            <a:ext cx="10735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최다 치유</a:t>
            </a:r>
            <a:endParaRPr lang="en-US" sz="680" dirty="0"/>
          </a:p>
        </p:txBody>
      </p:sp>
      <p:sp>
        <p:nvSpPr>
          <p:cNvPr id="56" name="Shape 54"/>
          <p:cNvSpPr/>
          <p:nvPr/>
        </p:nvSpPr>
        <p:spPr>
          <a:xfrm>
            <a:off x="2106778" y="4160520"/>
            <a:ext cx="1219810" cy="713232"/>
          </a:xfrm>
          <a:prstGeom prst="roundRect">
            <a:avLst>
              <a:gd name="adj" fmla="val 6410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179930" y="4233672"/>
            <a:ext cx="274320" cy="274320"/>
          </a:xfrm>
          <a:prstGeom prst="ellipse">
            <a:avLst/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179930" y="4489704"/>
            <a:ext cx="10735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9.8K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2179930" y="4690872"/>
            <a:ext cx="10735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최다 경감</a:t>
            </a:r>
            <a:endParaRPr lang="en-US" sz="680" dirty="0"/>
          </a:p>
        </p:txBody>
      </p:sp>
      <p:sp>
        <p:nvSpPr>
          <p:cNvPr id="60" name="Shape 58"/>
          <p:cNvSpPr/>
          <p:nvPr/>
        </p:nvSpPr>
        <p:spPr>
          <a:xfrm>
            <a:off x="3436315" y="4160520"/>
            <a:ext cx="1219810" cy="713232"/>
          </a:xfrm>
          <a:prstGeom prst="roundRect">
            <a:avLst>
              <a:gd name="adj" fmla="val 6410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509467" y="4233672"/>
            <a:ext cx="274320" cy="274320"/>
          </a:xfrm>
          <a:prstGeom prst="ellipse">
            <a:avLst/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509467" y="4489704"/>
            <a:ext cx="10735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512K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509467" y="4690872"/>
            <a:ext cx="10735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 최다처치</a:t>
            </a:r>
            <a:endParaRPr lang="en-US" sz="680" dirty="0"/>
          </a:p>
        </p:txBody>
      </p:sp>
      <p:sp>
        <p:nvSpPr>
          <p:cNvPr id="64" name="Shape 62"/>
          <p:cNvSpPr/>
          <p:nvPr/>
        </p:nvSpPr>
        <p:spPr>
          <a:xfrm>
            <a:off x="4765853" y="4160520"/>
            <a:ext cx="1219810" cy="713232"/>
          </a:xfrm>
          <a:prstGeom prst="roundRect">
            <a:avLst>
              <a:gd name="adj" fmla="val 6410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39005" y="4233672"/>
            <a:ext cx="274320" cy="274320"/>
          </a:xfrm>
          <a:prstGeom prst="ellipse">
            <a:avLst/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39005" y="4489704"/>
            <a:ext cx="10735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388A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839005" y="4690872"/>
            <a:ext cx="10735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 최다도움</a:t>
            </a:r>
            <a:endParaRPr lang="en-US" sz="680" dirty="0"/>
          </a:p>
        </p:txBody>
      </p:sp>
      <p:sp>
        <p:nvSpPr>
          <p:cNvPr id="68" name="Shape 66"/>
          <p:cNvSpPr/>
          <p:nvPr/>
        </p:nvSpPr>
        <p:spPr>
          <a:xfrm>
            <a:off x="6095390" y="4160520"/>
            <a:ext cx="1219810" cy="713232"/>
          </a:xfrm>
          <a:prstGeom prst="roundRect">
            <a:avLst>
              <a:gd name="adj" fmla="val 6410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168542" y="4233672"/>
            <a:ext cx="274320" cy="274320"/>
          </a:xfrm>
          <a:prstGeom prst="ellipse">
            <a:avLst/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68542" y="4489704"/>
            <a:ext cx="10735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205D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168542" y="4690872"/>
            <a:ext cx="10735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 최다죽음</a:t>
            </a:r>
            <a:endParaRPr lang="en-US" sz="680" dirty="0"/>
          </a:p>
        </p:txBody>
      </p:sp>
      <p:sp>
        <p:nvSpPr>
          <p:cNvPr id="72" name="Shape 70"/>
          <p:cNvSpPr/>
          <p:nvPr/>
        </p:nvSpPr>
        <p:spPr>
          <a:xfrm>
            <a:off x="777240" y="4983480"/>
            <a:ext cx="1219810" cy="713232"/>
          </a:xfrm>
          <a:prstGeom prst="roundRect">
            <a:avLst>
              <a:gd name="adj" fmla="val 6410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50392" y="5056632"/>
            <a:ext cx="274320" cy="274320"/>
          </a:xfrm>
          <a:prstGeom prst="ellipse">
            <a:avLst/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50392" y="5312664"/>
            <a:ext cx="10735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2.1M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850392" y="5513832"/>
            <a:ext cx="10735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 최다피해</a:t>
            </a:r>
            <a:endParaRPr lang="en-US" sz="680" dirty="0"/>
          </a:p>
        </p:txBody>
      </p:sp>
      <p:sp>
        <p:nvSpPr>
          <p:cNvPr id="76" name="Shape 74"/>
          <p:cNvSpPr/>
          <p:nvPr/>
        </p:nvSpPr>
        <p:spPr>
          <a:xfrm>
            <a:off x="2106778" y="4983480"/>
            <a:ext cx="1219810" cy="713232"/>
          </a:xfrm>
          <a:prstGeom prst="roundRect">
            <a:avLst>
              <a:gd name="adj" fmla="val 6410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179930" y="5056632"/>
            <a:ext cx="274320" cy="274320"/>
          </a:xfrm>
          <a:prstGeom prst="ellipse">
            <a:avLst/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179930" y="5312664"/>
            <a:ext cx="10735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1.8M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2179930" y="5513832"/>
            <a:ext cx="10735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 최대치유</a:t>
            </a:r>
            <a:endParaRPr lang="en-US" sz="680" dirty="0"/>
          </a:p>
        </p:txBody>
      </p:sp>
      <p:sp>
        <p:nvSpPr>
          <p:cNvPr id="80" name="Shape 78"/>
          <p:cNvSpPr/>
          <p:nvPr/>
        </p:nvSpPr>
        <p:spPr>
          <a:xfrm>
            <a:off x="3436315" y="4983480"/>
            <a:ext cx="1219810" cy="713232"/>
          </a:xfrm>
          <a:prstGeom prst="roundRect">
            <a:avLst>
              <a:gd name="adj" fmla="val 6410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509467" y="5056632"/>
            <a:ext cx="274320" cy="274320"/>
          </a:xfrm>
          <a:prstGeom prst="ellipse">
            <a:avLst/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509467" y="5312664"/>
            <a:ext cx="10735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1.2M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3509467" y="5513832"/>
            <a:ext cx="10735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 최다경감</a:t>
            </a:r>
            <a:endParaRPr lang="en-US" sz="680" dirty="0"/>
          </a:p>
        </p:txBody>
      </p:sp>
      <p:sp>
        <p:nvSpPr>
          <p:cNvPr id="84" name="Shape 82"/>
          <p:cNvSpPr/>
          <p:nvPr/>
        </p:nvSpPr>
        <p:spPr>
          <a:xfrm>
            <a:off x="7818120" y="1371600"/>
            <a:ext cx="3886200" cy="5074920"/>
          </a:xfrm>
          <a:prstGeom prst="roundRect">
            <a:avLst>
              <a:gd name="adj" fmla="val 1882"/>
            </a:avLst>
          </a:prstGeom>
          <a:solidFill>
            <a:srgbClr val="141B2E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074152" y="1572768"/>
            <a:ext cx="3374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SCR-001 · 메인 대시보드</a:t>
            </a:r>
            <a:endParaRPr lang="en-US" sz="1500" dirty="0"/>
          </a:p>
        </p:txBody>
      </p:sp>
      <p:sp>
        <p:nvSpPr>
          <p:cNvPr id="86" name="Shape 84"/>
          <p:cNvSpPr/>
          <p:nvPr/>
        </p:nvSpPr>
        <p:spPr>
          <a:xfrm>
            <a:off x="8074152" y="1993392"/>
            <a:ext cx="3374136" cy="0"/>
          </a:xfrm>
          <a:prstGeom prst="line">
            <a:avLst/>
          </a:prstGeom>
          <a:noFill/>
          <a:ln w="12700">
            <a:solidFill>
              <a:srgbClr val="2A335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074152" y="2157984"/>
            <a:ext cx="274320" cy="2743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88" name="Text 86"/>
          <p:cNvSpPr/>
          <p:nvPr/>
        </p:nvSpPr>
        <p:spPr>
          <a:xfrm>
            <a:off x="8074152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8476488" y="212140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검색바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8476488" y="2414016"/>
            <a:ext cx="297180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선수/닉네임 자동완성 검색 → 선택 시 상세로 이동 (US-001)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8074152" y="3198114"/>
            <a:ext cx="274320" cy="2743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92" name="Text 90"/>
          <p:cNvSpPr/>
          <p:nvPr/>
        </p:nvSpPr>
        <p:spPr>
          <a:xfrm>
            <a:off x="8074152" y="319811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8476488" y="316153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중앙 바로가기 메뉴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8476488" y="3454146"/>
            <a:ext cx="297180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시즌1~4, 라이벌클래시, 통합랭킹 바로가기 배치 (CM-001)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8074152" y="4238244"/>
            <a:ext cx="274320" cy="2743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96" name="Text 94"/>
          <p:cNvSpPr/>
          <p:nvPr/>
        </p:nvSpPr>
        <p:spPr>
          <a:xfrm>
            <a:off x="8074152" y="42382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8476488" y="420166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13종 리더보드 카드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8476488" y="4494276"/>
            <a:ext cx="297180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우승횟수Top5, 단일세트 최다 6종, 누적통계 6종 (CM-001)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8074152" y="5278374"/>
            <a:ext cx="274320" cy="2743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00" name="Text 98"/>
          <p:cNvSpPr/>
          <p:nvPr/>
        </p:nvSpPr>
        <p:spPr>
          <a:xfrm>
            <a:off x="8074152" y="5278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8476488" y="524179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 클릭 이동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8476488" y="5534406"/>
            <a:ext cx="297180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프로필 이미지 클릭 시 /streamer/[id] 상세화면 이동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7818120" y="6528816"/>
            <a:ext cx="907085" cy="237744"/>
          </a:xfrm>
          <a:prstGeom prst="roundRect">
            <a:avLst>
              <a:gd name="adj" fmla="val 19231"/>
            </a:avLst>
          </a:prstGeom>
          <a:solidFill>
            <a:srgbClr val="1B2340"/>
          </a:solidFill>
          <a:ln w="9525">
            <a:solidFill>
              <a:srgbClr val="3A86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818120" y="6528816"/>
            <a:ext cx="9070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CM-001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8915400" y="6528816"/>
            <a:ext cx="907085" cy="237744"/>
          </a:xfrm>
          <a:prstGeom prst="roundRect">
            <a:avLst>
              <a:gd name="adj" fmla="val 19231"/>
            </a:avLst>
          </a:prstGeom>
          <a:solidFill>
            <a:srgbClr val="1B2340"/>
          </a:solidFill>
          <a:ln w="9525">
            <a:solidFill>
              <a:srgbClr val="3A86F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915400" y="6528816"/>
            <a:ext cx="9070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US-001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스트리머 상세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814255" y="4572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1B2340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11185855" cy="0"/>
          </a:xfrm>
          <a:prstGeom prst="line">
            <a:avLst/>
          </a:prstGeom>
          <a:noFill/>
          <a:ln w="12700">
            <a:solidFill>
              <a:srgbClr val="2A33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74175" y="65288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ROMS 화면설계서 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371600"/>
            <a:ext cx="708660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7DBE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371600"/>
            <a:ext cx="7086600" cy="329184"/>
          </a:xfrm>
          <a:prstGeom prst="roundRect">
            <a:avLst>
              <a:gd name="adj" fmla="val 16667"/>
            </a:avLst>
          </a:prstGeom>
          <a:solidFill>
            <a:srgbClr val="EDEFF4"/>
          </a:solidFill>
          <a:ln w="9525">
            <a:solidFill>
              <a:srgbClr val="D7DB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627632"/>
            <a:ext cx="7086600" cy="73152"/>
          </a:xfrm>
          <a:prstGeom prst="rect">
            <a:avLst/>
          </a:prstGeom>
          <a:solidFill>
            <a:srgbClr val="EDEFF4"/>
          </a:solidFill>
          <a:ln/>
        </p:spPr>
      </p:sp>
      <p:sp>
        <p:nvSpPr>
          <p:cNvPr id="12" name="Shape 10"/>
          <p:cNvSpPr/>
          <p:nvPr/>
        </p:nvSpPr>
        <p:spPr>
          <a:xfrm>
            <a:off x="649224" y="1485900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11"/>
          <p:cNvSpPr/>
          <p:nvPr/>
        </p:nvSpPr>
        <p:spPr>
          <a:xfrm>
            <a:off x="832104" y="1485900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4984" y="1485900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1426464"/>
            <a:ext cx="589788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7DB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1426464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8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roms.app/streamer/12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7240" y="1929384"/>
            <a:ext cx="658368" cy="658368"/>
          </a:xfrm>
          <a:prstGeom prst="ellipse">
            <a:avLst/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19476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00200" y="22494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@runner_ow  ·  치지직 · 유튜브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00200" y="249631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/>
        </p:spPr>
      </p:sp>
      <p:sp>
        <p:nvSpPr>
          <p:cNvPr id="21" name="Text 19"/>
          <p:cNvSpPr/>
          <p:nvPr/>
        </p:nvSpPr>
        <p:spPr>
          <a:xfrm>
            <a:off x="1600200" y="24963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77240" y="2798064"/>
            <a:ext cx="130759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3136392"/>
            <a:ext cx="1307592" cy="27432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2798064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개요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084832" y="2798064"/>
            <a:ext cx="1307592" cy="365760"/>
          </a:xfrm>
          <a:prstGeom prst="rect">
            <a:avLst/>
          </a:prstGeom>
          <a:solidFill>
            <a:srgbClr val="EDEFF4"/>
          </a:solidFill>
          <a:ln/>
        </p:spPr>
      </p:sp>
      <p:sp>
        <p:nvSpPr>
          <p:cNvPr id="26" name="Text 24"/>
          <p:cNvSpPr/>
          <p:nvPr/>
        </p:nvSpPr>
        <p:spPr>
          <a:xfrm>
            <a:off x="2084832" y="2798064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업적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92424" y="2798064"/>
            <a:ext cx="1307592" cy="365760"/>
          </a:xfrm>
          <a:prstGeom prst="rect">
            <a:avLst/>
          </a:prstGeom>
          <a:solidFill>
            <a:srgbClr val="EDEFF4"/>
          </a:solidFill>
          <a:ln/>
        </p:spPr>
      </p:sp>
      <p:sp>
        <p:nvSpPr>
          <p:cNvPr id="28" name="Text 26"/>
          <p:cNvSpPr/>
          <p:nvPr/>
        </p:nvSpPr>
        <p:spPr>
          <a:xfrm>
            <a:off x="3392424" y="2798064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0016" y="2798064"/>
            <a:ext cx="1307592" cy="365760"/>
          </a:xfrm>
          <a:prstGeom prst="rect">
            <a:avLst/>
          </a:prstGeom>
          <a:solidFill>
            <a:srgbClr val="EDEFF4"/>
          </a:solidFill>
          <a:ln/>
        </p:spPr>
      </p:sp>
      <p:sp>
        <p:nvSpPr>
          <p:cNvPr id="30" name="Text 28"/>
          <p:cNvSpPr/>
          <p:nvPr/>
        </p:nvSpPr>
        <p:spPr>
          <a:xfrm>
            <a:off x="4700016" y="2798064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맵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07608" y="2798064"/>
            <a:ext cx="1307592" cy="365760"/>
          </a:xfrm>
          <a:prstGeom prst="rect">
            <a:avLst/>
          </a:prstGeom>
          <a:solidFill>
            <a:srgbClr val="EDEFF4"/>
          </a:solidFill>
          <a:ln/>
        </p:spPr>
      </p:sp>
      <p:sp>
        <p:nvSpPr>
          <p:cNvPr id="32" name="Text 30"/>
          <p:cNvSpPr/>
          <p:nvPr/>
        </p:nvSpPr>
        <p:spPr>
          <a:xfrm>
            <a:off x="6007608" y="2798064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1v1 비교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77240" y="3163824"/>
            <a:ext cx="653796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B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5256" y="3310128"/>
            <a:ext cx="2876702" cy="1417320"/>
          </a:xfrm>
          <a:prstGeom prst="roundRect">
            <a:avLst>
              <a:gd name="adj" fmla="val 3226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" y="3310128"/>
            <a:ext cx="276697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하이라이트 영상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019702" y="3310128"/>
            <a:ext cx="31583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영웅 Top3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019702" y="3547872"/>
            <a:ext cx="420624" cy="420624"/>
          </a:xfrm>
          <a:prstGeom prst="ellipse">
            <a:avLst/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19702" y="3547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1위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586630" y="3547872"/>
            <a:ext cx="420624" cy="420624"/>
          </a:xfrm>
          <a:prstGeom prst="ellipse">
            <a:avLst/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86630" y="3547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2위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153558" y="3547872"/>
            <a:ext cx="420624" cy="420624"/>
          </a:xfrm>
          <a:prstGeom prst="ellipse">
            <a:avLst/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53558" y="3547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3위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019702" y="4059936"/>
            <a:ext cx="31583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최고 승률 맵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019702" y="4261104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F9F1C"/>
          </a:solidFill>
          <a:ln/>
        </p:spPr>
      </p:sp>
      <p:sp>
        <p:nvSpPr>
          <p:cNvPr id="45" name="Text 43"/>
          <p:cNvSpPr/>
          <p:nvPr/>
        </p:nvSpPr>
        <p:spPr>
          <a:xfrm>
            <a:off x="4019702" y="4261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왕의 길 · 승률 78%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905256" y="4864608"/>
            <a:ext cx="6263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경기당 평균 / 최대 스탯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905256" y="510235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691640" y="5138928"/>
            <a:ext cx="4983480" cy="128016"/>
          </a:xfrm>
          <a:prstGeom prst="roundRect">
            <a:avLst>
              <a:gd name="adj" fmla="val 50000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691640" y="5138928"/>
            <a:ext cx="3089758" cy="128016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/>
        </p:spPr>
      </p:sp>
      <p:sp>
        <p:nvSpPr>
          <p:cNvPr id="50" name="Text 48"/>
          <p:cNvSpPr/>
          <p:nvPr/>
        </p:nvSpPr>
        <p:spPr>
          <a:xfrm>
            <a:off x="905256" y="53400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691640" y="5376672"/>
            <a:ext cx="4983480" cy="128016"/>
          </a:xfrm>
          <a:prstGeom prst="roundRect">
            <a:avLst>
              <a:gd name="adj" fmla="val 50000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691640" y="5376672"/>
            <a:ext cx="3887114" cy="128016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/>
        </p:spPr>
      </p:sp>
      <p:sp>
        <p:nvSpPr>
          <p:cNvPr id="53" name="Text 51"/>
          <p:cNvSpPr/>
          <p:nvPr/>
        </p:nvSpPr>
        <p:spPr>
          <a:xfrm>
            <a:off x="905256" y="55778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Healing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691640" y="5614416"/>
            <a:ext cx="4983480" cy="128016"/>
          </a:xfrm>
          <a:prstGeom prst="roundRect">
            <a:avLst>
              <a:gd name="adj" fmla="val 50000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691640" y="5614416"/>
            <a:ext cx="996696" cy="128016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/>
        </p:spPr>
      </p:sp>
      <p:sp>
        <p:nvSpPr>
          <p:cNvPr id="56" name="Shape 54"/>
          <p:cNvSpPr/>
          <p:nvPr/>
        </p:nvSpPr>
        <p:spPr>
          <a:xfrm>
            <a:off x="7818120" y="1371600"/>
            <a:ext cx="3886200" cy="5074920"/>
          </a:xfrm>
          <a:prstGeom prst="roundRect">
            <a:avLst>
              <a:gd name="adj" fmla="val 1882"/>
            </a:avLst>
          </a:prstGeom>
          <a:solidFill>
            <a:srgbClr val="141B2E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074152" y="1572768"/>
            <a:ext cx="3374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SCR-002 · 스트리머 상세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8074152" y="1993392"/>
            <a:ext cx="3374136" cy="0"/>
          </a:xfrm>
          <a:prstGeom prst="line">
            <a:avLst/>
          </a:prstGeom>
          <a:noFill/>
          <a:ln w="12700">
            <a:solidFill>
              <a:srgbClr val="2A335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074152" y="2157984"/>
            <a:ext cx="274320" cy="2743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60" name="Text 58"/>
          <p:cNvSpPr/>
          <p:nvPr/>
        </p:nvSpPr>
        <p:spPr>
          <a:xfrm>
            <a:off x="8074152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476488" y="212140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프로필 헤더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476488" y="2414016"/>
            <a:ext cx="297180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선수명 · 방송닉네임 · 대표 포지션 뱃지 표출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074152" y="3198114"/>
            <a:ext cx="274320" cy="2743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64" name="Text 62"/>
          <p:cNvSpPr/>
          <p:nvPr/>
        </p:nvSpPr>
        <p:spPr>
          <a:xfrm>
            <a:off x="8074152" y="319811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8476488" y="316153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탭 구조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476488" y="3454146"/>
            <a:ext cx="297180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개요 / 업적 / 결과 / 맵 / 1v1비교 전환 방식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8074152" y="4238244"/>
            <a:ext cx="274320" cy="2743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68" name="Text 66"/>
          <p:cNvSpPr/>
          <p:nvPr/>
        </p:nvSpPr>
        <p:spPr>
          <a:xfrm>
            <a:off x="8074152" y="42382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476488" y="420166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개요 탭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8476488" y="4494276"/>
            <a:ext cx="297180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하이라이트 영상, Most영웅Top3, 평균·최대 스탯, 최고승률맵 (US-003)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8074152" y="5278374"/>
            <a:ext cx="274320" cy="2743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72" name="Text 70"/>
          <p:cNvSpPr/>
          <p:nvPr/>
        </p:nvSpPr>
        <p:spPr>
          <a:xfrm>
            <a:off x="8074152" y="5278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8476488" y="524179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업적 · 결과 · 맵 · 1v1 탭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8476488" y="5534406"/>
            <a:ext cx="297180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대회순위/상금(US-004), 맵별결과·영웅밴·KDA(US-005), 맵별승률(US-011), 상대전적 레이더차트(US-006)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818120" y="6528816"/>
            <a:ext cx="1133856" cy="237744"/>
          </a:xfrm>
          <a:prstGeom prst="roundRect">
            <a:avLst>
              <a:gd name="adj" fmla="val 19231"/>
            </a:avLst>
          </a:prstGeom>
          <a:solidFill>
            <a:srgbClr val="1B2340"/>
          </a:solidFill>
          <a:ln w="9525">
            <a:solidFill>
              <a:srgbClr val="3A86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818120" y="6528816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US-001~006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시즌 아카이브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814255" y="4572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1B2340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11185855" cy="0"/>
          </a:xfrm>
          <a:prstGeom prst="line">
            <a:avLst/>
          </a:prstGeom>
          <a:noFill/>
          <a:ln w="12700">
            <a:solidFill>
              <a:srgbClr val="2A33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74175" y="65288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ROMS 화면설계서 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371600"/>
            <a:ext cx="708660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7DBE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371600"/>
            <a:ext cx="7086600" cy="329184"/>
          </a:xfrm>
          <a:prstGeom prst="roundRect">
            <a:avLst>
              <a:gd name="adj" fmla="val 16667"/>
            </a:avLst>
          </a:prstGeom>
          <a:solidFill>
            <a:srgbClr val="EDEFF4"/>
          </a:solidFill>
          <a:ln w="9525">
            <a:solidFill>
              <a:srgbClr val="D7DB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627632"/>
            <a:ext cx="7086600" cy="73152"/>
          </a:xfrm>
          <a:prstGeom prst="rect">
            <a:avLst/>
          </a:prstGeom>
          <a:solidFill>
            <a:srgbClr val="EDEFF4"/>
          </a:solidFill>
          <a:ln/>
        </p:spPr>
      </p:sp>
      <p:sp>
        <p:nvSpPr>
          <p:cNvPr id="12" name="Shape 10"/>
          <p:cNvSpPr/>
          <p:nvPr/>
        </p:nvSpPr>
        <p:spPr>
          <a:xfrm>
            <a:off x="649224" y="1485900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11"/>
          <p:cNvSpPr/>
          <p:nvPr/>
        </p:nvSpPr>
        <p:spPr>
          <a:xfrm>
            <a:off x="832104" y="1485900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4984" y="1485900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1426464"/>
            <a:ext cx="589788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7DB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1426464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8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roms.app/season/4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7240" y="1929384"/>
            <a:ext cx="512064" cy="512064"/>
          </a:xfrm>
          <a:prstGeom prst="ellipse">
            <a:avLst/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08" y="1947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러너리그 시즌4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435608" y="22219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2026.03.01 ~ 2026.05.30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7240" y="2624328"/>
            <a:ext cx="163449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2962656"/>
            <a:ext cx="1634490" cy="27432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2624328"/>
            <a:ext cx="16344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대진표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11730" y="2624328"/>
            <a:ext cx="1634490" cy="365760"/>
          </a:xfrm>
          <a:prstGeom prst="rect">
            <a:avLst/>
          </a:prstGeom>
          <a:solidFill>
            <a:srgbClr val="EDEFF4"/>
          </a:solidFill>
          <a:ln/>
        </p:spPr>
      </p:sp>
      <p:sp>
        <p:nvSpPr>
          <p:cNvPr id="24" name="Text 22"/>
          <p:cNvSpPr/>
          <p:nvPr/>
        </p:nvSpPr>
        <p:spPr>
          <a:xfrm>
            <a:off x="2411730" y="2624328"/>
            <a:ext cx="16344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일정 &amp; 결과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046220" y="2624328"/>
            <a:ext cx="1634490" cy="365760"/>
          </a:xfrm>
          <a:prstGeom prst="rect">
            <a:avLst/>
          </a:prstGeom>
          <a:solidFill>
            <a:srgbClr val="EDEFF4"/>
          </a:solidFill>
          <a:ln/>
        </p:spPr>
      </p:sp>
      <p:sp>
        <p:nvSpPr>
          <p:cNvPr id="26" name="Text 24"/>
          <p:cNvSpPr/>
          <p:nvPr/>
        </p:nvSpPr>
        <p:spPr>
          <a:xfrm>
            <a:off x="4046220" y="2624328"/>
            <a:ext cx="16344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참가팀 &amp; 맵풀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80710" y="2624328"/>
            <a:ext cx="1634490" cy="365760"/>
          </a:xfrm>
          <a:prstGeom prst="rect">
            <a:avLst/>
          </a:prstGeom>
          <a:solidFill>
            <a:srgbClr val="EDEFF4"/>
          </a:solidFill>
          <a:ln/>
        </p:spPr>
      </p:sp>
      <p:sp>
        <p:nvSpPr>
          <p:cNvPr id="28" name="Text 26"/>
          <p:cNvSpPr/>
          <p:nvPr/>
        </p:nvSpPr>
        <p:spPr>
          <a:xfrm>
            <a:off x="5680710" y="2624328"/>
            <a:ext cx="16344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시즌통계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77240" y="2990088"/>
            <a:ext cx="6537960" cy="32278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B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30632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8강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523183" y="30632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준결승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15330" y="30632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결승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60120" y="3319272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4984" y="3319272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960120" y="397764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4984" y="3977640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960120" y="4636008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4984" y="4636008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60120" y="5294376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4984" y="5294376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377440" y="3502152"/>
            <a:ext cx="182880" cy="0"/>
          </a:xfrm>
          <a:prstGeom prst="line">
            <a:avLst/>
          </a:prstGeom>
          <a:noFill/>
          <a:ln w="12700">
            <a:solidFill>
              <a:srgbClr val="C7CCD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77440" y="4160520"/>
            <a:ext cx="182880" cy="0"/>
          </a:xfrm>
          <a:prstGeom prst="line">
            <a:avLst/>
          </a:prstGeom>
          <a:noFill/>
          <a:ln w="12700">
            <a:solidFill>
              <a:srgbClr val="C7CCD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0" y="3502152"/>
            <a:ext cx="0" cy="658368"/>
          </a:xfrm>
          <a:prstGeom prst="line">
            <a:avLst/>
          </a:prstGeom>
          <a:noFill/>
          <a:ln w="12700">
            <a:solidFill>
              <a:srgbClr val="C7CCD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0320" y="3648456"/>
            <a:ext cx="962863" cy="0"/>
          </a:xfrm>
          <a:prstGeom prst="line">
            <a:avLst/>
          </a:prstGeom>
          <a:noFill/>
          <a:ln w="12700">
            <a:solidFill>
              <a:srgbClr val="C7CCD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23183" y="3648456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78047" y="3648456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준결승 1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377440" y="4818888"/>
            <a:ext cx="182880" cy="0"/>
          </a:xfrm>
          <a:prstGeom prst="line">
            <a:avLst/>
          </a:prstGeom>
          <a:noFill/>
          <a:ln w="12700">
            <a:solidFill>
              <a:srgbClr val="C7CCD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77440" y="5477256"/>
            <a:ext cx="182880" cy="0"/>
          </a:xfrm>
          <a:prstGeom prst="line">
            <a:avLst/>
          </a:prstGeom>
          <a:noFill/>
          <a:ln w="12700">
            <a:solidFill>
              <a:srgbClr val="C7CCD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60320" y="4818888"/>
            <a:ext cx="0" cy="658368"/>
          </a:xfrm>
          <a:prstGeom prst="line">
            <a:avLst/>
          </a:prstGeom>
          <a:noFill/>
          <a:ln w="12700">
            <a:solidFill>
              <a:srgbClr val="C7CCD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560320" y="4965192"/>
            <a:ext cx="962863" cy="0"/>
          </a:xfrm>
          <a:prstGeom prst="line">
            <a:avLst/>
          </a:prstGeom>
          <a:noFill/>
          <a:ln w="12700">
            <a:solidFill>
              <a:srgbClr val="C7CCD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23183" y="4965192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78047" y="4965192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준결승 2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940503" y="3502152"/>
            <a:ext cx="182880" cy="0"/>
          </a:xfrm>
          <a:prstGeom prst="line">
            <a:avLst/>
          </a:prstGeom>
          <a:noFill/>
          <a:ln w="12700">
            <a:solidFill>
              <a:srgbClr val="C7CCD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940503" y="4818888"/>
            <a:ext cx="182880" cy="0"/>
          </a:xfrm>
          <a:prstGeom prst="line">
            <a:avLst/>
          </a:prstGeom>
          <a:noFill/>
          <a:ln w="12700">
            <a:solidFill>
              <a:srgbClr val="C7CCD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123383" y="3502152"/>
            <a:ext cx="0" cy="1316736"/>
          </a:xfrm>
          <a:prstGeom prst="line">
            <a:avLst/>
          </a:prstGeom>
          <a:noFill/>
          <a:ln w="12700">
            <a:solidFill>
              <a:srgbClr val="C7CCD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123383" y="4160520"/>
            <a:ext cx="491947" cy="0"/>
          </a:xfrm>
          <a:prstGeom prst="line">
            <a:avLst/>
          </a:prstGeom>
          <a:noFill/>
          <a:ln w="12700">
            <a:solidFill>
              <a:srgbClr val="C7CCD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615330" y="397764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FF9F1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70194" y="3977640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결승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615330" y="447141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/>
        </p:spPr>
      </p:sp>
      <p:sp>
        <p:nvSpPr>
          <p:cNvPr id="60" name="Text 58"/>
          <p:cNvSpPr/>
          <p:nvPr/>
        </p:nvSpPr>
        <p:spPr>
          <a:xfrm>
            <a:off x="5615330" y="44714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우승팀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818120" y="1371600"/>
            <a:ext cx="3886200" cy="5074920"/>
          </a:xfrm>
          <a:prstGeom prst="roundRect">
            <a:avLst>
              <a:gd name="adj" fmla="val 1882"/>
            </a:avLst>
          </a:prstGeom>
          <a:solidFill>
            <a:srgbClr val="141B2E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074152" y="1572768"/>
            <a:ext cx="3374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SCR-003 · 시즌 아카이브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8074152" y="1993392"/>
            <a:ext cx="3374136" cy="0"/>
          </a:xfrm>
          <a:prstGeom prst="line">
            <a:avLst/>
          </a:prstGeom>
          <a:noFill/>
          <a:ln w="12700">
            <a:solidFill>
              <a:srgbClr val="2A335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074152" y="2157984"/>
            <a:ext cx="274320" cy="2743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65" name="Text 63"/>
          <p:cNvSpPr/>
          <p:nvPr/>
        </p:nvSpPr>
        <p:spPr>
          <a:xfrm>
            <a:off x="8074152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476488" y="212140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 헤더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8476488" y="2414016"/>
            <a:ext cx="2971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시즌명 · 대회기간 · 로고 이미지 표출 (US-002)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8074152" y="2990088"/>
            <a:ext cx="274320" cy="2743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69" name="Text 67"/>
          <p:cNvSpPr/>
          <p:nvPr/>
        </p:nvSpPr>
        <p:spPr>
          <a:xfrm>
            <a:off x="8074152" y="2990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8476488" y="295351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대진표 탭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8476488" y="3246120"/>
            <a:ext cx="2971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8강 → 준결승 → 결승 토너먼트 트리 시각화 (US-008)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8074152" y="3822192"/>
            <a:ext cx="274320" cy="2743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73" name="Text 71"/>
          <p:cNvSpPr/>
          <p:nvPr/>
        </p:nvSpPr>
        <p:spPr>
          <a:xfrm>
            <a:off x="8074152" y="3822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8476488" y="3785616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일정 &amp; 결과 탭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8476488" y="4078224"/>
            <a:ext cx="2971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일자별 경기 목록 및 세트 스코어 조회 (US-009)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8074152" y="4654296"/>
            <a:ext cx="274320" cy="2743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77" name="Text 75"/>
          <p:cNvSpPr/>
          <p:nvPr/>
        </p:nvSpPr>
        <p:spPr>
          <a:xfrm>
            <a:off x="8074152" y="4654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476488" y="461772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참가팀 &amp; 맵풀 탭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8476488" y="4910328"/>
            <a:ext cx="2971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엠블럼, 로스터, 사용 맵 목록 (US-010)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8074152" y="5486400"/>
            <a:ext cx="274320" cy="2743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81" name="Text 79"/>
          <p:cNvSpPr/>
          <p:nvPr/>
        </p:nvSpPr>
        <p:spPr>
          <a:xfrm>
            <a:off x="8074152" y="5486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8476488" y="544982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시즌통계 탭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8476488" y="5742432"/>
            <a:ext cx="2971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영웅 픽률 · 맵 픽률 Recharts 차트 (US-011)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7818120" y="6528816"/>
            <a:ext cx="907085" cy="237744"/>
          </a:xfrm>
          <a:prstGeom prst="roundRect">
            <a:avLst>
              <a:gd name="adj" fmla="val 19231"/>
            </a:avLst>
          </a:prstGeom>
          <a:solidFill>
            <a:srgbClr val="1B2340"/>
          </a:solidFill>
          <a:ln w="9525">
            <a:solidFill>
              <a:srgbClr val="3A86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818120" y="6528816"/>
            <a:ext cx="9070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US-002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8732520" y="6528816"/>
            <a:ext cx="1133856" cy="237744"/>
          </a:xfrm>
          <a:prstGeom prst="roundRect">
            <a:avLst>
              <a:gd name="adj" fmla="val 19231"/>
            </a:avLst>
          </a:prstGeom>
          <a:solidFill>
            <a:srgbClr val="1B2340"/>
          </a:solidFill>
          <a:ln w="9525">
            <a:solidFill>
              <a:srgbClr val="3A86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732520" y="6528816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US-008~013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SCR-003 · MODAL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세트 상세 팝업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814255" y="4572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1B2340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11185855" cy="0"/>
          </a:xfrm>
          <a:prstGeom prst="line">
            <a:avLst/>
          </a:prstGeom>
          <a:noFill/>
          <a:ln w="12700">
            <a:solidFill>
              <a:srgbClr val="2A33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74175" y="65288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ROMS 화면설계서 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371600"/>
            <a:ext cx="708660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7DBE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371600"/>
            <a:ext cx="7086600" cy="329184"/>
          </a:xfrm>
          <a:prstGeom prst="roundRect">
            <a:avLst>
              <a:gd name="adj" fmla="val 16667"/>
            </a:avLst>
          </a:prstGeom>
          <a:solidFill>
            <a:srgbClr val="EDEFF4"/>
          </a:solidFill>
          <a:ln w="9525">
            <a:solidFill>
              <a:srgbClr val="D7DB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627632"/>
            <a:ext cx="7086600" cy="73152"/>
          </a:xfrm>
          <a:prstGeom prst="rect">
            <a:avLst/>
          </a:prstGeom>
          <a:solidFill>
            <a:srgbClr val="EDEFF4"/>
          </a:solidFill>
          <a:ln/>
        </p:spPr>
      </p:sp>
      <p:sp>
        <p:nvSpPr>
          <p:cNvPr id="12" name="Shape 10"/>
          <p:cNvSpPr/>
          <p:nvPr/>
        </p:nvSpPr>
        <p:spPr>
          <a:xfrm>
            <a:off x="649224" y="1485900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11"/>
          <p:cNvSpPr/>
          <p:nvPr/>
        </p:nvSpPr>
        <p:spPr>
          <a:xfrm>
            <a:off x="832104" y="1485900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4984" y="1485900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1426464"/>
            <a:ext cx="589788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7DB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1426464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8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roms.app/season/4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1837944"/>
            <a:ext cx="6812280" cy="4471416"/>
          </a:xfrm>
          <a:prstGeom prst="roundRect">
            <a:avLst>
              <a:gd name="adj" fmla="val 613"/>
            </a:avLst>
          </a:prstGeom>
          <a:solidFill>
            <a:srgbClr val="F3F4F8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2112264"/>
            <a:ext cx="6172200" cy="3922776"/>
          </a:xfrm>
          <a:prstGeom prst="roundRect">
            <a:avLst>
              <a:gd name="adj" fmla="val 1865"/>
            </a:avLst>
          </a:prstGeom>
          <a:solidFill>
            <a:srgbClr val="FFFFFF"/>
          </a:solidFill>
          <a:ln w="12700">
            <a:solidFill>
              <a:srgbClr val="D7DB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88720" y="2276856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2 · 왕의 길 (혼합)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577840" y="2295144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/>
        </p:spPr>
      </p:sp>
      <p:sp>
        <p:nvSpPr>
          <p:cNvPr id="21" name="Text 19"/>
          <p:cNvSpPr/>
          <p:nvPr/>
        </p:nvSpPr>
        <p:spPr>
          <a:xfrm>
            <a:off x="5577840" y="229514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 승리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188720" y="2660904"/>
            <a:ext cx="5715000" cy="0"/>
          </a:xfrm>
          <a:prstGeom prst="line">
            <a:avLst/>
          </a:prstGeom>
          <a:noFill/>
          <a:ln w="12700">
            <a:solidFill>
              <a:srgbClr val="C7CC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27706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선수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606040" y="27706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063240" y="27706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520440" y="27706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977640" y="277063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피해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63440" y="277063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치유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349240" y="277063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경감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035040" y="27706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143000" y="3026664"/>
            <a:ext cx="5806440" cy="292608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32" name="Text 30"/>
          <p:cNvSpPr/>
          <p:nvPr/>
        </p:nvSpPr>
        <p:spPr>
          <a:xfrm>
            <a:off x="1188720" y="302666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606040" y="302666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063240" y="302666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520440" y="302666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977640" y="302666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63440" y="302666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49240" y="302666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80760" y="306324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FF9F1C"/>
          </a:solidFill>
          <a:ln/>
        </p:spPr>
      </p:sp>
      <p:sp>
        <p:nvSpPr>
          <p:cNvPr id="40" name="Text 38"/>
          <p:cNvSpPr/>
          <p:nvPr/>
        </p:nvSpPr>
        <p:spPr>
          <a:xfrm>
            <a:off x="6080760" y="3063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88720" y="33375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Ashe_kim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606040" y="33375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063240" y="33375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520440" y="33375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977640" y="333756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6.5K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663440" y="333756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349240" y="333756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143000" y="3648456"/>
            <a:ext cx="5806440" cy="292608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49" name="Text 47"/>
          <p:cNvSpPr/>
          <p:nvPr/>
        </p:nvSpPr>
        <p:spPr>
          <a:xfrm>
            <a:off x="1188720" y="36484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HealQueen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606040" y="364845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063240" y="364845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520440" y="364845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977640" y="36484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663440" y="36484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9.8K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349240" y="36484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188720" y="5303520"/>
            <a:ext cx="5715000" cy="0"/>
          </a:xfrm>
          <a:prstGeom prst="line">
            <a:avLst/>
          </a:prstGeom>
          <a:noFill/>
          <a:ln w="12700">
            <a:solidFill>
              <a:srgbClr val="C7CCD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88720" y="543153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영웅 밴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965960" y="5413248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DDE1EC"/>
          </a:solidFill>
          <a:ln/>
        </p:spPr>
      </p:sp>
      <p:sp>
        <p:nvSpPr>
          <p:cNvPr id="59" name="Text 57"/>
          <p:cNvSpPr/>
          <p:nvPr/>
        </p:nvSpPr>
        <p:spPr>
          <a:xfrm>
            <a:off x="1965960" y="541324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애쉬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743200" y="5413248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DDE1EC"/>
          </a:solidFill>
          <a:ln/>
        </p:spPr>
      </p:sp>
      <p:sp>
        <p:nvSpPr>
          <p:cNvPr id="61" name="Text 59"/>
          <p:cNvSpPr/>
          <p:nvPr/>
        </p:nvSpPr>
        <p:spPr>
          <a:xfrm>
            <a:off x="2743200" y="541324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정커퀸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520440" y="5413248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DDE1EC"/>
          </a:solidFill>
          <a:ln/>
        </p:spPr>
      </p:sp>
      <p:sp>
        <p:nvSpPr>
          <p:cNvPr id="63" name="Text 61"/>
          <p:cNvSpPr/>
          <p:nvPr/>
        </p:nvSpPr>
        <p:spPr>
          <a:xfrm>
            <a:off x="3520440" y="541324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위도우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754880" y="5413248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1D3A2E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09744" y="5413248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치지직 다시보기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897880" y="5413248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1B2340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952744" y="5413248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VOD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7818120" y="1371600"/>
            <a:ext cx="3886200" cy="5074920"/>
          </a:xfrm>
          <a:prstGeom prst="roundRect">
            <a:avLst>
              <a:gd name="adj" fmla="val 1882"/>
            </a:avLst>
          </a:prstGeom>
          <a:solidFill>
            <a:srgbClr val="141B2E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074152" y="1572768"/>
            <a:ext cx="3374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세트 상세 팝업</a:t>
            </a:r>
            <a:endParaRPr lang="en-US" sz="1500" dirty="0"/>
          </a:p>
        </p:txBody>
      </p:sp>
      <p:sp>
        <p:nvSpPr>
          <p:cNvPr id="70" name="Shape 68"/>
          <p:cNvSpPr/>
          <p:nvPr/>
        </p:nvSpPr>
        <p:spPr>
          <a:xfrm>
            <a:off x="8074152" y="1993392"/>
            <a:ext cx="3374136" cy="0"/>
          </a:xfrm>
          <a:prstGeom prst="line">
            <a:avLst/>
          </a:prstGeom>
          <a:noFill/>
          <a:ln w="12700">
            <a:solidFill>
              <a:srgbClr val="2A335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074152" y="2157984"/>
            <a:ext cx="274320" cy="2743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72" name="Text 70"/>
          <p:cNvSpPr/>
          <p:nvPr/>
        </p:nvSpPr>
        <p:spPr>
          <a:xfrm>
            <a:off x="8074152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8476488" y="212140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모달 헤더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8476488" y="2414016"/>
            <a:ext cx="2971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세트번호 · 맵이름/맵전형 · 세트 승리팀 뱃지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8074152" y="2990088"/>
            <a:ext cx="274320" cy="2743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76" name="Text 74"/>
          <p:cNvSpPr/>
          <p:nvPr/>
        </p:nvSpPr>
        <p:spPr>
          <a:xfrm>
            <a:off x="8074152" y="2990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8476488" y="295351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선수별 세트 스탯 표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8476488" y="3246120"/>
            <a:ext cx="2971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K/D/A · 가한피해 · 치유량 · 경감량 · MVP 여부 (US-013)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8074152" y="3822192"/>
            <a:ext cx="274320" cy="2743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80" name="Text 78"/>
          <p:cNvSpPr/>
          <p:nvPr/>
        </p:nvSpPr>
        <p:spPr>
          <a:xfrm>
            <a:off x="8074152" y="3822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8476488" y="3785616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뱃지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8476488" y="4078224"/>
            <a:ext cx="2971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세트 내 MVP 선정 선수 강조 표시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8074152" y="4654296"/>
            <a:ext cx="274320" cy="2743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84" name="Text 82"/>
          <p:cNvSpPr/>
          <p:nvPr/>
        </p:nvSpPr>
        <p:spPr>
          <a:xfrm>
            <a:off x="8074152" y="4654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476488" y="461772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영웅 밴 목록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8476488" y="4910328"/>
            <a:ext cx="2971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세트 진행 전 팀별 지정 밴 영웅 표출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8074152" y="5486400"/>
            <a:ext cx="274320" cy="2743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88" name="Text 86"/>
          <p:cNvSpPr/>
          <p:nvPr/>
        </p:nvSpPr>
        <p:spPr>
          <a:xfrm>
            <a:off x="8074152" y="5486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8476488" y="544982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 링크 버튼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8476488" y="5742432"/>
            <a:ext cx="2971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치지직/유튜브 다시보기 URL 연동 (US-012)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7818120" y="6528816"/>
            <a:ext cx="907085" cy="237744"/>
          </a:xfrm>
          <a:prstGeom prst="roundRect">
            <a:avLst>
              <a:gd name="adj" fmla="val 19231"/>
            </a:avLst>
          </a:prstGeom>
          <a:solidFill>
            <a:srgbClr val="1B2340"/>
          </a:solidFill>
          <a:ln w="9525">
            <a:solidFill>
              <a:srgbClr val="3A86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818120" y="6528816"/>
            <a:ext cx="9070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US-012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8732520" y="6528816"/>
            <a:ext cx="907085" cy="237744"/>
          </a:xfrm>
          <a:prstGeom prst="roundRect">
            <a:avLst>
              <a:gd name="adj" fmla="val 19231"/>
            </a:avLst>
          </a:prstGeom>
          <a:solidFill>
            <a:srgbClr val="1B2340"/>
          </a:solidFill>
          <a:ln w="9525">
            <a:solidFill>
              <a:srgbClr val="3A86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732520" y="6528816"/>
            <a:ext cx="9070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US-013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통합 랭킹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814255" y="4572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1B2340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11185855" cy="0"/>
          </a:xfrm>
          <a:prstGeom prst="line">
            <a:avLst/>
          </a:prstGeom>
          <a:noFill/>
          <a:ln w="12700">
            <a:solidFill>
              <a:srgbClr val="2A33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74175" y="65288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ROMS 화면설계서 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371600"/>
            <a:ext cx="708660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7DBE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371600"/>
            <a:ext cx="7086600" cy="329184"/>
          </a:xfrm>
          <a:prstGeom prst="roundRect">
            <a:avLst>
              <a:gd name="adj" fmla="val 16667"/>
            </a:avLst>
          </a:prstGeom>
          <a:solidFill>
            <a:srgbClr val="EDEFF4"/>
          </a:solidFill>
          <a:ln w="9525">
            <a:solidFill>
              <a:srgbClr val="D7DB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627632"/>
            <a:ext cx="7086600" cy="73152"/>
          </a:xfrm>
          <a:prstGeom prst="rect">
            <a:avLst/>
          </a:prstGeom>
          <a:solidFill>
            <a:srgbClr val="EDEFF4"/>
          </a:solidFill>
          <a:ln/>
        </p:spPr>
      </p:sp>
      <p:sp>
        <p:nvSpPr>
          <p:cNvPr id="12" name="Shape 10"/>
          <p:cNvSpPr/>
          <p:nvPr/>
        </p:nvSpPr>
        <p:spPr>
          <a:xfrm>
            <a:off x="649224" y="1485900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11"/>
          <p:cNvSpPr/>
          <p:nvPr/>
        </p:nvSpPr>
        <p:spPr>
          <a:xfrm>
            <a:off x="832104" y="1485900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4984" y="1485900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1426464"/>
            <a:ext cx="589788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7DB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1426464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8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roms.app/ranking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7240" y="1929384"/>
            <a:ext cx="21793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2286000"/>
            <a:ext cx="2179320" cy="27432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1929384"/>
            <a:ext cx="217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선수 랭킹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56560" y="1929384"/>
            <a:ext cx="2179320" cy="384048"/>
          </a:xfrm>
          <a:prstGeom prst="rect">
            <a:avLst/>
          </a:prstGeom>
          <a:solidFill>
            <a:srgbClr val="EDEFF4"/>
          </a:solidFill>
          <a:ln/>
        </p:spPr>
      </p:sp>
      <p:sp>
        <p:nvSpPr>
          <p:cNvPr id="21" name="Text 19"/>
          <p:cNvSpPr/>
          <p:nvPr/>
        </p:nvSpPr>
        <p:spPr>
          <a:xfrm>
            <a:off x="2956560" y="1929384"/>
            <a:ext cx="217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영웅 랭킹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135880" y="1929384"/>
            <a:ext cx="2179320" cy="384048"/>
          </a:xfrm>
          <a:prstGeom prst="rect">
            <a:avLst/>
          </a:prstGeom>
          <a:solidFill>
            <a:srgbClr val="EDEFF4"/>
          </a:solidFill>
          <a:ln/>
        </p:spPr>
      </p:sp>
      <p:sp>
        <p:nvSpPr>
          <p:cNvPr id="23" name="Text 21"/>
          <p:cNvSpPr/>
          <p:nvPr/>
        </p:nvSpPr>
        <p:spPr>
          <a:xfrm>
            <a:off x="5135880" y="1929384"/>
            <a:ext cx="217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맵 랭킹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77240" y="2423160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" y="242316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시즌 ▾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194560" y="2423160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49424" y="242316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우승 횟수 ▾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77240" y="2862072"/>
            <a:ext cx="6537960" cy="33558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B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295351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순위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463040" y="295351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선수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017520" y="29535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우승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657600" y="29535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KDA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297680" y="2953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누적피해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212080" y="2953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누적치유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126480" y="2953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누적경감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68680" y="3227832"/>
            <a:ext cx="6355080" cy="365760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37" name="Shape 35"/>
          <p:cNvSpPr/>
          <p:nvPr/>
        </p:nvSpPr>
        <p:spPr>
          <a:xfrm>
            <a:off x="914400" y="3282696"/>
            <a:ext cx="256032" cy="256032"/>
          </a:xfrm>
          <a:prstGeom prst="ellipse">
            <a:avLst/>
          </a:prstGeom>
          <a:solidFill>
            <a:srgbClr val="FF9F1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3282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463040" y="3273552"/>
            <a:ext cx="274320" cy="274320"/>
          </a:xfrm>
          <a:prstGeom prst="ellipse">
            <a:avLst/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10512" y="32278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017520" y="32278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657600" y="32278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297680" y="3227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512K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212080" y="3227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88K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26480" y="3227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1.2M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14400" y="3666744"/>
            <a:ext cx="256032" cy="256032"/>
          </a:xfrm>
          <a:prstGeom prst="ellipse">
            <a:avLst/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3666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463040" y="3657600"/>
            <a:ext cx="274320" cy="274320"/>
          </a:xfrm>
          <a:prstGeom prst="ellipse">
            <a:avLst/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10512" y="3611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Ashe_kim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017520" y="3611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657600" y="3611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297680" y="3611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480K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212080" y="3611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40K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126480" y="3611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300K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868680" y="3995928"/>
            <a:ext cx="6355080" cy="365760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56" name="Shape 54"/>
          <p:cNvSpPr/>
          <p:nvPr/>
        </p:nvSpPr>
        <p:spPr>
          <a:xfrm>
            <a:off x="914400" y="4050792"/>
            <a:ext cx="256032" cy="256032"/>
          </a:xfrm>
          <a:prstGeom prst="ellipse">
            <a:avLst/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14400" y="4050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463040" y="4041648"/>
            <a:ext cx="274320" cy="274320"/>
          </a:xfrm>
          <a:prstGeom prst="ellipse">
            <a:avLst/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10512" y="39959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HealQueen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017520" y="39959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3657600" y="39959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297680" y="39959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120K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212080" y="39959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1.8M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126480" y="39959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150K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914400" y="4434840"/>
            <a:ext cx="256032" cy="256032"/>
          </a:xfrm>
          <a:prstGeom prst="ellipse">
            <a:avLst/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14400" y="4434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463040" y="4425696"/>
            <a:ext cx="274320" cy="274320"/>
          </a:xfrm>
          <a:prstGeom prst="ellipse">
            <a:avLst/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810512" y="43799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Tank_Master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3017520" y="43799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3657600" y="43799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4297680" y="437997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300K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5212080" y="437997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60K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6126480" y="437997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1.8M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868680" y="4764024"/>
            <a:ext cx="6355080" cy="365760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75" name="Shape 73"/>
          <p:cNvSpPr/>
          <p:nvPr/>
        </p:nvSpPr>
        <p:spPr>
          <a:xfrm>
            <a:off x="914400" y="4818888"/>
            <a:ext cx="256032" cy="256032"/>
          </a:xfrm>
          <a:prstGeom prst="ellipse">
            <a:avLst/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14400" y="4818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463040" y="4809744"/>
            <a:ext cx="274320" cy="274320"/>
          </a:xfrm>
          <a:prstGeom prst="ellipse">
            <a:avLst/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810512" y="476402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Ddal_pro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3017520" y="47640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3657600" y="47640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4297680" y="47640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420K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5212080" y="47640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70K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6126480" y="47640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220K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7818120" y="1371600"/>
            <a:ext cx="3886200" cy="5074920"/>
          </a:xfrm>
          <a:prstGeom prst="roundRect">
            <a:avLst>
              <a:gd name="adj" fmla="val 1882"/>
            </a:avLst>
          </a:prstGeom>
          <a:solidFill>
            <a:srgbClr val="141B2E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074152" y="1572768"/>
            <a:ext cx="3374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SCR-004 · 통합 랭킹</a:t>
            </a:r>
            <a:endParaRPr lang="en-US" sz="1500" dirty="0"/>
          </a:p>
        </p:txBody>
      </p:sp>
      <p:sp>
        <p:nvSpPr>
          <p:cNvPr id="86" name="Shape 84"/>
          <p:cNvSpPr/>
          <p:nvPr/>
        </p:nvSpPr>
        <p:spPr>
          <a:xfrm>
            <a:off x="8074152" y="1993392"/>
            <a:ext cx="3374136" cy="0"/>
          </a:xfrm>
          <a:prstGeom prst="line">
            <a:avLst/>
          </a:prstGeom>
          <a:noFill/>
          <a:ln w="12700">
            <a:solidFill>
              <a:srgbClr val="2A335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074152" y="2157984"/>
            <a:ext cx="274320" cy="2743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88" name="Text 86"/>
          <p:cNvSpPr/>
          <p:nvPr/>
        </p:nvSpPr>
        <p:spPr>
          <a:xfrm>
            <a:off x="8074152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8476488" y="212140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선수 랭킹 탭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8476488" y="2414016"/>
            <a:ext cx="297180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우승 횟수, KDA, 누적 피해/치유/경감량 기준 순위 (US-007)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8074152" y="3198114"/>
            <a:ext cx="274320" cy="2743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92" name="Text 90"/>
          <p:cNvSpPr/>
          <p:nvPr/>
        </p:nvSpPr>
        <p:spPr>
          <a:xfrm>
            <a:off x="8074152" y="319811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8476488" y="316153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영웅 랭킹 탭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8476488" y="3454146"/>
            <a:ext cx="297180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픽률, Most Pick Top3 (US-011)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8074152" y="4238244"/>
            <a:ext cx="274320" cy="2743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96" name="Text 94"/>
          <p:cNvSpPr/>
          <p:nvPr/>
        </p:nvSpPr>
        <p:spPr>
          <a:xfrm>
            <a:off x="8074152" y="42382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8476488" y="420166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맵 랭킹 탭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8476488" y="4494276"/>
            <a:ext cx="297180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최다 플레이 맵 순위 (US-011)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8074152" y="5278374"/>
            <a:ext cx="274320" cy="2743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00" name="Text 98"/>
          <p:cNvSpPr/>
          <p:nvPr/>
        </p:nvSpPr>
        <p:spPr>
          <a:xfrm>
            <a:off x="8074152" y="5278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8476488" y="524179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 영역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8476488" y="5534406"/>
            <a:ext cx="297180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 · 지표 기준 드롭다운 필터링 조회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7818120" y="6528816"/>
            <a:ext cx="907085" cy="237744"/>
          </a:xfrm>
          <a:prstGeom prst="roundRect">
            <a:avLst>
              <a:gd name="adj" fmla="val 19231"/>
            </a:avLst>
          </a:prstGeom>
          <a:solidFill>
            <a:srgbClr val="1B2340"/>
          </a:solidFill>
          <a:ln w="9525">
            <a:solidFill>
              <a:srgbClr val="3A86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818120" y="6528816"/>
            <a:ext cx="9070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US-007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8732520" y="6528816"/>
            <a:ext cx="907085" cy="237744"/>
          </a:xfrm>
          <a:prstGeom prst="roundRect">
            <a:avLst>
              <a:gd name="adj" fmla="val 19231"/>
            </a:avLst>
          </a:prstGeom>
          <a:solidFill>
            <a:srgbClr val="1B2340"/>
          </a:solidFill>
          <a:ln w="9525">
            <a:solidFill>
              <a:srgbClr val="3A86F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732520" y="6528816"/>
            <a:ext cx="9070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US-011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SCR-005 ~ 007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관리자 화면 (Admin Portal)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814255" y="4572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1B2340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11185855" cy="0"/>
          </a:xfrm>
          <a:prstGeom prst="line">
            <a:avLst/>
          </a:prstGeom>
          <a:noFill/>
          <a:ln w="12700">
            <a:solidFill>
              <a:srgbClr val="2A33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74175" y="65288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ROMS 화면설계서 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365760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7DBE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417320"/>
            <a:ext cx="3657600" cy="329184"/>
          </a:xfrm>
          <a:prstGeom prst="roundRect">
            <a:avLst>
              <a:gd name="adj" fmla="val 16667"/>
            </a:avLst>
          </a:prstGeom>
          <a:solidFill>
            <a:srgbClr val="EDEFF4"/>
          </a:solidFill>
          <a:ln w="9525">
            <a:solidFill>
              <a:srgbClr val="D7DB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673352"/>
            <a:ext cx="3657600" cy="73152"/>
          </a:xfrm>
          <a:prstGeom prst="rect">
            <a:avLst/>
          </a:prstGeom>
          <a:solidFill>
            <a:srgbClr val="EDEFF4"/>
          </a:solidFill>
          <a:ln/>
        </p:spPr>
      </p:sp>
      <p:sp>
        <p:nvSpPr>
          <p:cNvPr id="12" name="Shape 10"/>
          <p:cNvSpPr/>
          <p:nvPr/>
        </p:nvSpPr>
        <p:spPr>
          <a:xfrm>
            <a:off x="649224" y="1531620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11"/>
          <p:cNvSpPr/>
          <p:nvPr/>
        </p:nvSpPr>
        <p:spPr>
          <a:xfrm>
            <a:off x="832104" y="1531620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4984" y="1531620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1472184"/>
            <a:ext cx="246888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7DB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14721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8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roms.app/admin/season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19110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 등록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" y="2148840"/>
            <a:ext cx="3291840" cy="292608"/>
          </a:xfrm>
          <a:prstGeom prst="roundRect">
            <a:avLst>
              <a:gd name="adj" fmla="val 15625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" y="2148840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대회명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5800" y="2514600"/>
            <a:ext cx="3291840" cy="292608"/>
          </a:xfrm>
          <a:prstGeom prst="roundRect">
            <a:avLst>
              <a:gd name="adj" fmla="val 15625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" y="2514600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시작일 / 종료일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85800" y="2880360"/>
            <a:ext cx="3291840" cy="329184"/>
          </a:xfrm>
          <a:prstGeom prst="roundRect">
            <a:avLst>
              <a:gd name="adj" fmla="val 13889"/>
            </a:avLst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" y="2880360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 로고 이미지 업로드 (Storage)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85800" y="3383280"/>
            <a:ext cx="3291840" cy="0"/>
          </a:xfrm>
          <a:prstGeom prst="line">
            <a:avLst/>
          </a:prstGeom>
          <a:noFill/>
          <a:ln w="9525">
            <a:solidFill>
              <a:srgbClr val="C7CC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5112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생성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5800" y="3749040"/>
            <a:ext cx="3291840" cy="292608"/>
          </a:xfrm>
          <a:prstGeom prst="roundRect">
            <a:avLst>
              <a:gd name="adj" fmla="val 15625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" y="3749040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팀명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5800" y="4133088"/>
            <a:ext cx="3291840" cy="329184"/>
          </a:xfrm>
          <a:prstGeom prst="roundRect">
            <a:avLst>
              <a:gd name="adj" fmla="val 13889"/>
            </a:avLst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" y="4133088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 엠블럼 이미지 업로드 (Storage)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971800" y="4608576"/>
            <a:ext cx="1005840" cy="329184"/>
          </a:xfrm>
          <a:prstGeom prst="roundRect">
            <a:avLst>
              <a:gd name="adj" fmla="val 13889"/>
            </a:avLst>
          </a:prstGeom>
          <a:solidFill>
            <a:srgbClr val="FF9F1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26664" y="4608576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16552" y="1417320"/>
            <a:ext cx="365760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7DBE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416552" y="1417320"/>
            <a:ext cx="3657600" cy="329184"/>
          </a:xfrm>
          <a:prstGeom prst="roundRect">
            <a:avLst>
              <a:gd name="adj" fmla="val 16667"/>
            </a:avLst>
          </a:prstGeom>
          <a:solidFill>
            <a:srgbClr val="EDEFF4"/>
          </a:solidFill>
          <a:ln w="9525">
            <a:solidFill>
              <a:srgbClr val="D7DB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16552" y="1673352"/>
            <a:ext cx="3657600" cy="73152"/>
          </a:xfrm>
          <a:prstGeom prst="rect">
            <a:avLst/>
          </a:prstGeom>
          <a:solidFill>
            <a:srgbClr val="EDEFF4"/>
          </a:solidFill>
          <a:ln/>
        </p:spPr>
      </p:sp>
      <p:sp>
        <p:nvSpPr>
          <p:cNvPr id="35" name="Shape 33"/>
          <p:cNvSpPr/>
          <p:nvPr/>
        </p:nvSpPr>
        <p:spPr>
          <a:xfrm>
            <a:off x="4562856" y="1531620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36" name="Shape 34"/>
          <p:cNvSpPr/>
          <p:nvPr/>
        </p:nvSpPr>
        <p:spPr>
          <a:xfrm>
            <a:off x="4745736" y="1531620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37" name="Shape 35"/>
          <p:cNvSpPr/>
          <p:nvPr/>
        </p:nvSpPr>
        <p:spPr>
          <a:xfrm>
            <a:off x="4928616" y="1531620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38" name="Shape 36"/>
          <p:cNvSpPr/>
          <p:nvPr/>
        </p:nvSpPr>
        <p:spPr>
          <a:xfrm>
            <a:off x="5285232" y="1472184"/>
            <a:ext cx="246888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7DB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76672" y="14721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8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roms.app/admin/roster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99432" y="1911096"/>
            <a:ext cx="1577340" cy="292608"/>
          </a:xfrm>
          <a:prstGeom prst="roundRect">
            <a:avLst>
              <a:gd name="adj" fmla="val 15625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54296" y="1911096"/>
            <a:ext cx="14676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 선택 ▾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313932" y="1911096"/>
            <a:ext cx="1577340" cy="292608"/>
          </a:xfrm>
          <a:prstGeom prst="roundRect">
            <a:avLst>
              <a:gd name="adj" fmla="val 15625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68796" y="1911096"/>
            <a:ext cx="14676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선택 ▾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99432" y="23317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소속 스트리머 배정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99432" y="2606040"/>
            <a:ext cx="256032" cy="256032"/>
          </a:xfrm>
          <a:prstGeom prst="ellipse">
            <a:avLst/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28616" y="25877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016752" y="2606040"/>
            <a:ext cx="621792" cy="237744"/>
          </a:xfrm>
          <a:prstGeom prst="roundRect">
            <a:avLst>
              <a:gd name="adj" fmla="val 50000"/>
            </a:avLst>
          </a:prstGeom>
          <a:solidFill>
            <a:srgbClr val="E9ECF3"/>
          </a:solidFill>
          <a:ln/>
        </p:spPr>
      </p:sp>
      <p:sp>
        <p:nvSpPr>
          <p:cNvPr id="48" name="Text 46"/>
          <p:cNvSpPr/>
          <p:nvPr/>
        </p:nvSpPr>
        <p:spPr>
          <a:xfrm>
            <a:off x="6016752" y="260604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702552" y="2606040"/>
            <a:ext cx="621792" cy="237744"/>
          </a:xfrm>
          <a:prstGeom prst="roundRect">
            <a:avLst>
              <a:gd name="adj" fmla="val 50000"/>
            </a:avLst>
          </a:prstGeom>
          <a:solidFill>
            <a:srgbClr val="FF9F1C"/>
          </a:solidFill>
          <a:ln/>
        </p:spPr>
      </p:sp>
      <p:sp>
        <p:nvSpPr>
          <p:cNvPr id="50" name="Text 48"/>
          <p:cNvSpPr/>
          <p:nvPr/>
        </p:nvSpPr>
        <p:spPr>
          <a:xfrm>
            <a:off x="6702552" y="260604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388352" y="2606040"/>
            <a:ext cx="621792" cy="237744"/>
          </a:xfrm>
          <a:prstGeom prst="roundRect">
            <a:avLst>
              <a:gd name="adj" fmla="val 50000"/>
            </a:avLst>
          </a:prstGeom>
          <a:solidFill>
            <a:srgbClr val="E9ECF3"/>
          </a:solidFill>
          <a:ln/>
        </p:spPr>
      </p:sp>
      <p:sp>
        <p:nvSpPr>
          <p:cNvPr id="52" name="Text 50"/>
          <p:cNvSpPr/>
          <p:nvPr/>
        </p:nvSpPr>
        <p:spPr>
          <a:xfrm>
            <a:off x="7388352" y="260604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99432" y="2953512"/>
            <a:ext cx="256032" cy="256032"/>
          </a:xfrm>
          <a:prstGeom prst="ellipse">
            <a:avLst/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28616" y="2935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Ashe_kim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016752" y="2953512"/>
            <a:ext cx="621792" cy="237744"/>
          </a:xfrm>
          <a:prstGeom prst="roundRect">
            <a:avLst>
              <a:gd name="adj" fmla="val 50000"/>
            </a:avLst>
          </a:prstGeom>
          <a:solidFill>
            <a:srgbClr val="E9ECF3"/>
          </a:solidFill>
          <a:ln/>
        </p:spPr>
      </p:sp>
      <p:sp>
        <p:nvSpPr>
          <p:cNvPr id="56" name="Text 54"/>
          <p:cNvSpPr/>
          <p:nvPr/>
        </p:nvSpPr>
        <p:spPr>
          <a:xfrm>
            <a:off x="6016752" y="295351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702552" y="2953512"/>
            <a:ext cx="621792" cy="237744"/>
          </a:xfrm>
          <a:prstGeom prst="roundRect">
            <a:avLst>
              <a:gd name="adj" fmla="val 50000"/>
            </a:avLst>
          </a:prstGeom>
          <a:solidFill>
            <a:srgbClr val="FF9F1C"/>
          </a:solidFill>
          <a:ln/>
        </p:spPr>
      </p:sp>
      <p:sp>
        <p:nvSpPr>
          <p:cNvPr id="58" name="Text 56"/>
          <p:cNvSpPr/>
          <p:nvPr/>
        </p:nvSpPr>
        <p:spPr>
          <a:xfrm>
            <a:off x="6702552" y="295351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388352" y="2953512"/>
            <a:ext cx="621792" cy="237744"/>
          </a:xfrm>
          <a:prstGeom prst="roundRect">
            <a:avLst>
              <a:gd name="adj" fmla="val 50000"/>
            </a:avLst>
          </a:prstGeom>
          <a:solidFill>
            <a:srgbClr val="E9ECF3"/>
          </a:solidFill>
          <a:ln/>
        </p:spPr>
      </p:sp>
      <p:sp>
        <p:nvSpPr>
          <p:cNvPr id="60" name="Text 58"/>
          <p:cNvSpPr/>
          <p:nvPr/>
        </p:nvSpPr>
        <p:spPr>
          <a:xfrm>
            <a:off x="7388352" y="295351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599432" y="3300984"/>
            <a:ext cx="256032" cy="256032"/>
          </a:xfrm>
          <a:prstGeom prst="ellipse">
            <a:avLst/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28616" y="32826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HealQueen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016752" y="3300984"/>
            <a:ext cx="621792" cy="237744"/>
          </a:xfrm>
          <a:prstGeom prst="roundRect">
            <a:avLst>
              <a:gd name="adj" fmla="val 50000"/>
            </a:avLst>
          </a:prstGeom>
          <a:solidFill>
            <a:srgbClr val="E9ECF3"/>
          </a:solidFill>
          <a:ln/>
        </p:spPr>
      </p:sp>
      <p:sp>
        <p:nvSpPr>
          <p:cNvPr id="64" name="Text 62"/>
          <p:cNvSpPr/>
          <p:nvPr/>
        </p:nvSpPr>
        <p:spPr>
          <a:xfrm>
            <a:off x="6016752" y="3300984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702552" y="3300984"/>
            <a:ext cx="621792" cy="237744"/>
          </a:xfrm>
          <a:prstGeom prst="roundRect">
            <a:avLst>
              <a:gd name="adj" fmla="val 50000"/>
            </a:avLst>
          </a:prstGeom>
          <a:solidFill>
            <a:srgbClr val="E9ECF3"/>
          </a:solidFill>
          <a:ln/>
        </p:spPr>
      </p:sp>
      <p:sp>
        <p:nvSpPr>
          <p:cNvPr id="66" name="Text 64"/>
          <p:cNvSpPr/>
          <p:nvPr/>
        </p:nvSpPr>
        <p:spPr>
          <a:xfrm>
            <a:off x="6702552" y="3300984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388352" y="3300984"/>
            <a:ext cx="621792" cy="237744"/>
          </a:xfrm>
          <a:prstGeom prst="roundRect">
            <a:avLst>
              <a:gd name="adj" fmla="val 50000"/>
            </a:avLst>
          </a:prstGeom>
          <a:solidFill>
            <a:srgbClr val="FF9F1C"/>
          </a:solidFill>
          <a:ln/>
        </p:spPr>
      </p:sp>
      <p:sp>
        <p:nvSpPr>
          <p:cNvPr id="68" name="Text 66"/>
          <p:cNvSpPr/>
          <p:nvPr/>
        </p:nvSpPr>
        <p:spPr>
          <a:xfrm>
            <a:off x="7388352" y="3300984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599432" y="3648456"/>
            <a:ext cx="256032" cy="256032"/>
          </a:xfrm>
          <a:prstGeom prst="ellipse">
            <a:avLst/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928616" y="36301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Tank_Master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016752" y="3648456"/>
            <a:ext cx="621792" cy="237744"/>
          </a:xfrm>
          <a:prstGeom prst="roundRect">
            <a:avLst>
              <a:gd name="adj" fmla="val 50000"/>
            </a:avLst>
          </a:prstGeom>
          <a:solidFill>
            <a:srgbClr val="FF9F1C"/>
          </a:solidFill>
          <a:ln/>
        </p:spPr>
      </p:sp>
      <p:sp>
        <p:nvSpPr>
          <p:cNvPr id="72" name="Text 70"/>
          <p:cNvSpPr/>
          <p:nvPr/>
        </p:nvSpPr>
        <p:spPr>
          <a:xfrm>
            <a:off x="6016752" y="3648456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702552" y="3648456"/>
            <a:ext cx="621792" cy="237744"/>
          </a:xfrm>
          <a:prstGeom prst="roundRect">
            <a:avLst>
              <a:gd name="adj" fmla="val 50000"/>
            </a:avLst>
          </a:prstGeom>
          <a:solidFill>
            <a:srgbClr val="E9ECF3"/>
          </a:solidFill>
          <a:ln/>
        </p:spPr>
      </p:sp>
      <p:sp>
        <p:nvSpPr>
          <p:cNvPr id="74" name="Text 72"/>
          <p:cNvSpPr/>
          <p:nvPr/>
        </p:nvSpPr>
        <p:spPr>
          <a:xfrm>
            <a:off x="6702552" y="3648456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388352" y="3648456"/>
            <a:ext cx="621792" cy="237744"/>
          </a:xfrm>
          <a:prstGeom prst="roundRect">
            <a:avLst>
              <a:gd name="adj" fmla="val 50000"/>
            </a:avLst>
          </a:prstGeom>
          <a:solidFill>
            <a:srgbClr val="E9ECF3"/>
          </a:solidFill>
          <a:ln/>
        </p:spPr>
      </p:sp>
      <p:sp>
        <p:nvSpPr>
          <p:cNvPr id="76" name="Text 74"/>
          <p:cNvSpPr/>
          <p:nvPr/>
        </p:nvSpPr>
        <p:spPr>
          <a:xfrm>
            <a:off x="7388352" y="3648456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885432" y="4032504"/>
            <a:ext cx="1005840" cy="329184"/>
          </a:xfrm>
          <a:prstGeom prst="roundRect">
            <a:avLst>
              <a:gd name="adj" fmla="val 13889"/>
            </a:avLst>
          </a:prstGeom>
          <a:solidFill>
            <a:srgbClr val="FF9F1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940296" y="4032504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배정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8330184" y="1417320"/>
            <a:ext cx="365760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7DBE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8330184" y="1417320"/>
            <a:ext cx="3657600" cy="329184"/>
          </a:xfrm>
          <a:prstGeom prst="roundRect">
            <a:avLst>
              <a:gd name="adj" fmla="val 16667"/>
            </a:avLst>
          </a:prstGeom>
          <a:solidFill>
            <a:srgbClr val="EDEFF4"/>
          </a:solidFill>
          <a:ln w="9525">
            <a:solidFill>
              <a:srgbClr val="D7DBE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330184" y="1673352"/>
            <a:ext cx="3657600" cy="73152"/>
          </a:xfrm>
          <a:prstGeom prst="rect">
            <a:avLst/>
          </a:prstGeom>
          <a:solidFill>
            <a:srgbClr val="EDEFF4"/>
          </a:solidFill>
          <a:ln/>
        </p:spPr>
      </p:sp>
      <p:sp>
        <p:nvSpPr>
          <p:cNvPr id="82" name="Shape 80"/>
          <p:cNvSpPr/>
          <p:nvPr/>
        </p:nvSpPr>
        <p:spPr>
          <a:xfrm>
            <a:off x="8476488" y="1531620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3" name="Shape 81"/>
          <p:cNvSpPr/>
          <p:nvPr/>
        </p:nvSpPr>
        <p:spPr>
          <a:xfrm>
            <a:off x="8659368" y="1531620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4" name="Shape 82"/>
          <p:cNvSpPr/>
          <p:nvPr/>
        </p:nvSpPr>
        <p:spPr>
          <a:xfrm>
            <a:off x="8842248" y="1531620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85" name="Shape 83"/>
          <p:cNvSpPr/>
          <p:nvPr/>
        </p:nvSpPr>
        <p:spPr>
          <a:xfrm>
            <a:off x="9198864" y="1472184"/>
            <a:ext cx="246888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7DBE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290304" y="14721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8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roms.app/admin/match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8513064" y="1911096"/>
            <a:ext cx="1036320" cy="274320"/>
          </a:xfrm>
          <a:prstGeom prst="roundRect">
            <a:avLst>
              <a:gd name="adj" fmla="val 16667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567928" y="1911096"/>
            <a:ext cx="92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8강 ▾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9640824" y="1911096"/>
            <a:ext cx="1036320" cy="274320"/>
          </a:xfrm>
          <a:prstGeom prst="roundRect">
            <a:avLst>
              <a:gd name="adj" fmla="val 16667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695688" y="1911096"/>
            <a:ext cx="92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10768584" y="1911096"/>
            <a:ext cx="1036320" cy="274320"/>
          </a:xfrm>
          <a:prstGeom prst="roundRect">
            <a:avLst>
              <a:gd name="adj" fmla="val 16667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823448" y="1911096"/>
            <a:ext cx="92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8513064" y="229514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세트 입력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8513064" y="2514600"/>
            <a:ext cx="1382573" cy="274320"/>
          </a:xfrm>
          <a:prstGeom prst="roundRect">
            <a:avLst>
              <a:gd name="adj" fmla="val 16667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567928" y="2514600"/>
            <a:ext cx="12728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맵 선택 ▾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9961474" y="2514600"/>
            <a:ext cx="921715" cy="274320"/>
          </a:xfrm>
          <a:prstGeom prst="roundRect">
            <a:avLst>
              <a:gd name="adj" fmla="val 16667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0016338" y="2514600"/>
            <a:ext cx="8119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승리팀 ▾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10949026" y="2514600"/>
            <a:ext cx="855878" cy="274320"/>
          </a:xfrm>
          <a:prstGeom prst="roundRect">
            <a:avLst>
              <a:gd name="adj" fmla="val 16667"/>
            </a:avLst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1003890" y="2514600"/>
            <a:ext cx="746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밴 영웅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8513064" y="28803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선수별 K / D / A · 피해 · 치유 · 경감 · MVP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8513064" y="3118104"/>
            <a:ext cx="219456" cy="219456"/>
          </a:xfrm>
          <a:prstGeom prst="ellipse">
            <a:avLst/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805672" y="3099816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189720" y="3099816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573768" y="3099816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957816" y="3099816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341864" y="3099816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725912" y="3118104"/>
            <a:ext cx="384048" cy="219456"/>
          </a:xfrm>
          <a:prstGeom prst="roundRect">
            <a:avLst>
              <a:gd name="adj" fmla="val 50000"/>
            </a:avLst>
          </a:prstGeom>
          <a:solidFill>
            <a:srgbClr val="FF9F1C"/>
          </a:solidFill>
          <a:ln/>
        </p:spPr>
      </p:sp>
      <p:sp>
        <p:nvSpPr>
          <p:cNvPr id="108" name="Text 106"/>
          <p:cNvSpPr/>
          <p:nvPr/>
        </p:nvSpPr>
        <p:spPr>
          <a:xfrm>
            <a:off x="10725912" y="31181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8513064" y="3429000"/>
            <a:ext cx="219456" cy="219456"/>
          </a:xfrm>
          <a:prstGeom prst="ellipse">
            <a:avLst/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805672" y="3410712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189720" y="3410712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573768" y="3410712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957816" y="3410712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0341864" y="3410712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0725912" y="3429000"/>
            <a:ext cx="384048" cy="219456"/>
          </a:xfrm>
          <a:prstGeom prst="roundRect">
            <a:avLst>
              <a:gd name="adj" fmla="val 50000"/>
            </a:avLst>
          </a:prstGeom>
          <a:solidFill>
            <a:srgbClr val="DDE1EC"/>
          </a:solidFill>
          <a:ln/>
        </p:spPr>
      </p:sp>
      <p:sp>
        <p:nvSpPr>
          <p:cNvPr id="116" name="Text 114"/>
          <p:cNvSpPr/>
          <p:nvPr/>
        </p:nvSpPr>
        <p:spPr>
          <a:xfrm>
            <a:off x="10725912" y="342900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8513064" y="3739896"/>
            <a:ext cx="219456" cy="219456"/>
          </a:xfrm>
          <a:prstGeom prst="ellipse">
            <a:avLst/>
          </a:prstGeom>
          <a:solidFill>
            <a:srgbClr val="DDE1E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805672" y="3721608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189720" y="3721608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573768" y="3721608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957816" y="3721608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0341864" y="3721608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725912" y="3739896"/>
            <a:ext cx="384048" cy="219456"/>
          </a:xfrm>
          <a:prstGeom prst="roundRect">
            <a:avLst>
              <a:gd name="adj" fmla="val 50000"/>
            </a:avLst>
          </a:prstGeom>
          <a:solidFill>
            <a:srgbClr val="DDE1EC"/>
          </a:solidFill>
          <a:ln/>
        </p:spPr>
      </p:sp>
      <p:sp>
        <p:nvSpPr>
          <p:cNvPr id="124" name="Text 122"/>
          <p:cNvSpPr/>
          <p:nvPr/>
        </p:nvSpPr>
        <p:spPr>
          <a:xfrm>
            <a:off x="10725912" y="373989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10799064" y="4123944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FF9F1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853928" y="4123944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502920" y="50657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 &amp; 팀 관리</a:t>
            </a:r>
            <a:endParaRPr lang="en-US" sz="1150" dirty="0"/>
          </a:p>
        </p:txBody>
      </p:sp>
      <p:sp>
        <p:nvSpPr>
          <p:cNvPr id="128" name="Shape 126"/>
          <p:cNvSpPr/>
          <p:nvPr/>
        </p:nvSpPr>
        <p:spPr>
          <a:xfrm>
            <a:off x="502920" y="5358384"/>
            <a:ext cx="907085" cy="237744"/>
          </a:xfrm>
          <a:prstGeom prst="roundRect">
            <a:avLst>
              <a:gd name="adj" fmla="val 19231"/>
            </a:avLst>
          </a:prstGeom>
          <a:solidFill>
            <a:srgbClr val="1B2340"/>
          </a:solidFill>
          <a:ln w="9525">
            <a:solidFill>
              <a:srgbClr val="3A86FF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502920" y="5358384"/>
            <a:ext cx="9070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AD-001</a:t>
            </a:r>
            <a:endParaRPr lang="en-US" sz="850" dirty="0"/>
          </a:p>
        </p:txBody>
      </p:sp>
      <p:sp>
        <p:nvSpPr>
          <p:cNvPr id="130" name="Text 128"/>
          <p:cNvSpPr/>
          <p:nvPr/>
        </p:nvSpPr>
        <p:spPr>
          <a:xfrm>
            <a:off x="4416552" y="50657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선수 배정 &amp; 포지션</a:t>
            </a:r>
            <a:endParaRPr lang="en-US" sz="1150" dirty="0"/>
          </a:p>
        </p:txBody>
      </p:sp>
      <p:sp>
        <p:nvSpPr>
          <p:cNvPr id="131" name="Shape 129"/>
          <p:cNvSpPr/>
          <p:nvPr/>
        </p:nvSpPr>
        <p:spPr>
          <a:xfrm>
            <a:off x="4416552" y="5358384"/>
            <a:ext cx="907085" cy="237744"/>
          </a:xfrm>
          <a:prstGeom prst="roundRect">
            <a:avLst>
              <a:gd name="adj" fmla="val 19231"/>
            </a:avLst>
          </a:prstGeom>
          <a:solidFill>
            <a:srgbClr val="1B2340"/>
          </a:solidFill>
          <a:ln w="9525">
            <a:solidFill>
              <a:srgbClr val="3A86F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4416552" y="5358384"/>
            <a:ext cx="9070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AD-002</a:t>
            </a:r>
            <a:endParaRPr lang="en-US" sz="850" dirty="0"/>
          </a:p>
        </p:txBody>
      </p:sp>
      <p:sp>
        <p:nvSpPr>
          <p:cNvPr id="133" name="Text 131"/>
          <p:cNvSpPr/>
          <p:nvPr/>
        </p:nvSpPr>
        <p:spPr>
          <a:xfrm>
            <a:off x="8330184" y="50657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경기 결과 &amp; 스탯 입력</a:t>
            </a:r>
            <a:endParaRPr lang="en-US" sz="1150" dirty="0"/>
          </a:p>
        </p:txBody>
      </p:sp>
      <p:sp>
        <p:nvSpPr>
          <p:cNvPr id="134" name="Shape 132"/>
          <p:cNvSpPr/>
          <p:nvPr/>
        </p:nvSpPr>
        <p:spPr>
          <a:xfrm>
            <a:off x="8330184" y="5358384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1B2340"/>
          </a:solidFill>
          <a:ln w="9525">
            <a:solidFill>
              <a:srgbClr val="3A86FF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8330184" y="535838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AD-003 · AD-004</a:t>
            </a:r>
            <a:endParaRPr lang="en-US" sz="850" dirty="0"/>
          </a:p>
        </p:txBody>
      </p:sp>
      <p:sp>
        <p:nvSpPr>
          <p:cNvPr id="136" name="Shape 134"/>
          <p:cNvSpPr/>
          <p:nvPr/>
        </p:nvSpPr>
        <p:spPr>
          <a:xfrm>
            <a:off x="502920" y="6071616"/>
            <a:ext cx="11201400" cy="512064"/>
          </a:xfrm>
          <a:prstGeom prst="roundRect">
            <a:avLst>
              <a:gd name="adj" fmla="val 12500"/>
            </a:avLst>
          </a:prstGeom>
          <a:solidFill>
            <a:srgbClr val="141B2E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777240" y="6071616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시즌·팀 등록(AD-001), 스트리머 시즌팀 배정 및 포지션 설정(AD-002), 매치·세트·영웅밴·선수 스탯 입력(AD-003)은 저장 즉시 대시보드 지표에 자동 합산 반영됩니다.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관리자 로그인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814255" y="4572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1B2340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11185855" cy="0"/>
          </a:xfrm>
          <a:prstGeom prst="line">
            <a:avLst/>
          </a:prstGeom>
          <a:noFill/>
          <a:ln w="12700">
            <a:solidFill>
              <a:srgbClr val="2A33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74175" y="65288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ROMS 화면설계서 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371600"/>
            <a:ext cx="708660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7DBE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371600"/>
            <a:ext cx="7086600" cy="329184"/>
          </a:xfrm>
          <a:prstGeom prst="roundRect">
            <a:avLst>
              <a:gd name="adj" fmla="val 16667"/>
            </a:avLst>
          </a:prstGeom>
          <a:solidFill>
            <a:srgbClr val="EDEFF4"/>
          </a:solidFill>
          <a:ln w="9525">
            <a:solidFill>
              <a:srgbClr val="D7DB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627632"/>
            <a:ext cx="7086600" cy="73152"/>
          </a:xfrm>
          <a:prstGeom prst="rect">
            <a:avLst/>
          </a:prstGeom>
          <a:solidFill>
            <a:srgbClr val="EDEFF4"/>
          </a:solidFill>
          <a:ln/>
        </p:spPr>
      </p:sp>
      <p:sp>
        <p:nvSpPr>
          <p:cNvPr id="12" name="Shape 10"/>
          <p:cNvSpPr/>
          <p:nvPr/>
        </p:nvSpPr>
        <p:spPr>
          <a:xfrm>
            <a:off x="649224" y="1485900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11"/>
          <p:cNvSpPr/>
          <p:nvPr/>
        </p:nvSpPr>
        <p:spPr>
          <a:xfrm>
            <a:off x="832104" y="1485900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4984" y="1485900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1426464"/>
            <a:ext cx="589788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7DB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1426464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8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roms.app/auth/login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1837944"/>
            <a:ext cx="6812280" cy="4471416"/>
          </a:xfrm>
          <a:prstGeom prst="roundRect">
            <a:avLst>
              <a:gd name="adj" fmla="val 613"/>
            </a:avLst>
          </a:prstGeom>
          <a:solidFill>
            <a:srgbClr val="F3F4F8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37460" y="2564892"/>
            <a:ext cx="30175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DB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90188" y="2820924"/>
            <a:ext cx="512064" cy="512064"/>
          </a:xfrm>
          <a:prstGeom prst="ellipse">
            <a:avLst/>
          </a:prstGeom>
          <a:solidFill>
            <a:srgbClr val="1B2340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0188" y="28209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37460" y="34792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로그인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811780" y="3890772"/>
            <a:ext cx="2468880" cy="329184"/>
          </a:xfrm>
          <a:prstGeom prst="roundRect">
            <a:avLst>
              <a:gd name="adj" fmla="val 13889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66644" y="3890772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811780" y="4302252"/>
            <a:ext cx="2468880" cy="329184"/>
          </a:xfrm>
          <a:prstGeom prst="roundRect">
            <a:avLst>
              <a:gd name="adj" fmla="val 13889"/>
            </a:avLst>
          </a:prstGeom>
          <a:solidFill>
            <a:srgbClr val="E9ECF3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66644" y="4302252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811780" y="4741164"/>
            <a:ext cx="2468880" cy="365760"/>
          </a:xfrm>
          <a:prstGeom prst="roundRect">
            <a:avLst>
              <a:gd name="adj" fmla="val 12500"/>
            </a:avLst>
          </a:prstGeom>
          <a:solidFill>
            <a:srgbClr val="FF9F1C"/>
          </a:solidFill>
          <a:ln w="9525">
            <a:solidFill>
              <a:srgbClr val="C7CC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66644" y="474116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37460" y="53629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1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NextAuth.js Credentials Provider · bcrypt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818120" y="1371600"/>
            <a:ext cx="3886200" cy="5074920"/>
          </a:xfrm>
          <a:prstGeom prst="roundRect">
            <a:avLst>
              <a:gd name="adj" fmla="val 1882"/>
            </a:avLst>
          </a:prstGeom>
          <a:solidFill>
            <a:srgbClr val="141B2E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74152" y="1572768"/>
            <a:ext cx="3374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SCR-008 · 관리자 로그인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074152" y="1993392"/>
            <a:ext cx="3374136" cy="0"/>
          </a:xfrm>
          <a:prstGeom prst="line">
            <a:avLst/>
          </a:prstGeom>
          <a:noFill/>
          <a:ln w="12700">
            <a:solidFill>
              <a:srgbClr val="2A33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74152" y="2157984"/>
            <a:ext cx="274320" cy="2743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33" name="Text 31"/>
          <p:cNvSpPr/>
          <p:nvPr/>
        </p:nvSpPr>
        <p:spPr>
          <a:xfrm>
            <a:off x="8074152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476488" y="212140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 / 비밀번호 입력 폼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76488" y="2414016"/>
            <a:ext cx="297180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로그인 카드 UI, 입력값 유효성 검사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074152" y="3198114"/>
            <a:ext cx="274320" cy="2743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37" name="Text 35"/>
          <p:cNvSpPr/>
          <p:nvPr/>
        </p:nvSpPr>
        <p:spPr>
          <a:xfrm>
            <a:off x="8074152" y="319811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76488" y="316153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암호화 검증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76488" y="3454146"/>
            <a:ext cx="297180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저장된 password_hash와 비교하여 인증 처리 (CM-002)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074152" y="4238244"/>
            <a:ext cx="274320" cy="2743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41" name="Text 39"/>
          <p:cNvSpPr/>
          <p:nvPr/>
        </p:nvSpPr>
        <p:spPr>
          <a:xfrm>
            <a:off x="8074152" y="42382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476488" y="420166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기반 분기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476488" y="4494276"/>
            <a:ext cx="297180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/admin 진입, USER/GUEST → 메인('/')으로 이동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074152" y="5278374"/>
            <a:ext cx="274320" cy="2743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45" name="Text 43"/>
          <p:cNvSpPr/>
          <p:nvPr/>
        </p:nvSpPr>
        <p:spPr>
          <a:xfrm>
            <a:off x="8074152" y="5278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476488" y="524179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실패 처리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476488" y="5534406"/>
            <a:ext cx="297180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이메일/비밀번호 불일치 시 오류 메시지 표출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818120" y="6528816"/>
            <a:ext cx="907085" cy="237744"/>
          </a:xfrm>
          <a:prstGeom prst="roundRect">
            <a:avLst>
              <a:gd name="adj" fmla="val 19231"/>
            </a:avLst>
          </a:prstGeom>
          <a:solidFill>
            <a:srgbClr val="1B2340"/>
          </a:solidFill>
          <a:ln w="9525">
            <a:solidFill>
              <a:srgbClr val="3A86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18120" y="6528816"/>
            <a:ext cx="9070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CM-002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&amp; RBAC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화면 흐름도 및 권한별 접근 매트릭스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5855" cy="0"/>
          </a:xfrm>
          <a:prstGeom prst="line">
            <a:avLst/>
          </a:prstGeom>
          <a:noFill/>
          <a:ln w="12700">
            <a:solidFill>
              <a:srgbClr val="2A33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74175" y="65288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ROMS 화면설계서 v1.0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내비게이션 흐름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801368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141B2E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" y="180136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'/'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80160" y="2185416"/>
            <a:ext cx="0" cy="164592"/>
          </a:xfrm>
          <a:prstGeom prst="line">
            <a:avLst/>
          </a:prstGeom>
          <a:noFill/>
          <a:ln w="15875">
            <a:solidFill>
              <a:srgbClr val="2A33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0160" y="2350008"/>
            <a:ext cx="0" cy="1920240"/>
          </a:xfrm>
          <a:prstGeom prst="line">
            <a:avLst/>
          </a:prstGeom>
          <a:noFill/>
          <a:ln w="15875">
            <a:solidFill>
              <a:srgbClr val="2A33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2624328"/>
            <a:ext cx="457200" cy="0"/>
          </a:xfrm>
          <a:prstGeom prst="line">
            <a:avLst/>
          </a:prstGeom>
          <a:noFill/>
          <a:ln w="15875">
            <a:solidFill>
              <a:srgbClr val="2A33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2487168"/>
            <a:ext cx="4709160" cy="365760"/>
          </a:xfrm>
          <a:prstGeom prst="roundRect">
            <a:avLst>
              <a:gd name="adj" fmla="val 15000"/>
            </a:avLst>
          </a:prstGeom>
          <a:solidFill>
            <a:srgbClr val="141B2E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37944" y="2487168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검색/카드 클릭 → 스트리머 상세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280160" y="3172968"/>
            <a:ext cx="457200" cy="0"/>
          </a:xfrm>
          <a:prstGeom prst="line">
            <a:avLst/>
          </a:prstGeom>
          <a:noFill/>
          <a:ln w="15875">
            <a:solidFill>
              <a:srgbClr val="2A33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83080" y="3035808"/>
            <a:ext cx="4709160" cy="365760"/>
          </a:xfrm>
          <a:prstGeom prst="roundRect">
            <a:avLst>
              <a:gd name="adj" fmla="val 15000"/>
            </a:avLst>
          </a:prstGeom>
          <a:solidFill>
            <a:srgbClr val="141B2E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035808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 숏컷 → 시즌 아카이브 → 세트 클릭 → 상세팝업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280160" y="3721608"/>
            <a:ext cx="457200" cy="0"/>
          </a:xfrm>
          <a:prstGeom prst="line">
            <a:avLst/>
          </a:prstGeom>
          <a:noFill/>
          <a:ln w="15875">
            <a:solidFill>
              <a:srgbClr val="2A33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83080" y="3584448"/>
            <a:ext cx="4709160" cy="365760"/>
          </a:xfrm>
          <a:prstGeom prst="roundRect">
            <a:avLst>
              <a:gd name="adj" fmla="val 15000"/>
            </a:avLst>
          </a:prstGeom>
          <a:solidFill>
            <a:srgbClr val="141B2E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37944" y="3584448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랭킹 숏컷 → 통합 랭킹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280160" y="4270248"/>
            <a:ext cx="457200" cy="0"/>
          </a:xfrm>
          <a:prstGeom prst="line">
            <a:avLst/>
          </a:prstGeom>
          <a:noFill/>
          <a:ln w="15875">
            <a:solidFill>
              <a:srgbClr val="2A33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83080" y="4133088"/>
            <a:ext cx="4709160" cy="365760"/>
          </a:xfrm>
          <a:prstGeom prst="roundRect">
            <a:avLst>
              <a:gd name="adj" fmla="val 15000"/>
            </a:avLst>
          </a:prstGeom>
          <a:solidFill>
            <a:srgbClr val="141B2E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37944" y="4133088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GNB 관리자 → 로그인 → Admin Portal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" y="4636008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 진입 후: 시즌/팀 관리 ↔ 선수 배정 ↔ 경기 스탯 입력 (GNB로 상호 이동)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66560" y="14173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권한별 화면 접근 매트릭스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66560" y="1746504"/>
            <a:ext cx="4937760" cy="292608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1746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80960" y="17465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화면명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555480" y="174650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268712" y="174650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81944" y="174650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66560" y="2039112"/>
            <a:ext cx="4937760" cy="365760"/>
          </a:xfrm>
          <a:prstGeom prst="rect">
            <a:avLst/>
          </a:prstGeom>
          <a:solidFill>
            <a:srgbClr val="141B2E"/>
          </a:solidFill>
          <a:ln/>
        </p:spPr>
      </p:sp>
      <p:sp>
        <p:nvSpPr>
          <p:cNvPr id="33" name="Text 31"/>
          <p:cNvSpPr/>
          <p:nvPr/>
        </p:nvSpPr>
        <p:spPr>
          <a:xfrm>
            <a:off x="6766560" y="20391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SCR-001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680960" y="203911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대시보드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555480" y="203911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268712" y="203911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981944" y="203911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66560" y="24048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SCR-002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680960" y="24048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스트리머 상세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555480" y="240487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268712" y="240487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981944" y="240487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766560" y="2770632"/>
            <a:ext cx="4937760" cy="365760"/>
          </a:xfrm>
          <a:prstGeom prst="rect">
            <a:avLst/>
          </a:prstGeom>
          <a:solidFill>
            <a:srgbClr val="141B2E"/>
          </a:solidFill>
          <a:ln/>
        </p:spPr>
      </p:sp>
      <p:sp>
        <p:nvSpPr>
          <p:cNvPr id="44" name="Text 42"/>
          <p:cNvSpPr/>
          <p:nvPr/>
        </p:nvSpPr>
        <p:spPr>
          <a:xfrm>
            <a:off x="6766560" y="27706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SCR-003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680960" y="27706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 아카이브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555480" y="277063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268712" y="277063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981944" y="277063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766560" y="31363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SCR-004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680960" y="313639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랭킹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555480" y="313639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268712" y="313639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981944" y="313639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766560" y="3502152"/>
            <a:ext cx="4937760" cy="365760"/>
          </a:xfrm>
          <a:prstGeom prst="rect">
            <a:avLst/>
          </a:prstGeom>
          <a:solidFill>
            <a:srgbClr val="141B2E"/>
          </a:solidFill>
          <a:ln/>
        </p:spPr>
      </p:sp>
      <p:sp>
        <p:nvSpPr>
          <p:cNvPr id="55" name="Text 53"/>
          <p:cNvSpPr/>
          <p:nvPr/>
        </p:nvSpPr>
        <p:spPr>
          <a:xfrm>
            <a:off x="6766560" y="35021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SCR-008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680960" y="35021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로그인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555480" y="350215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0268712" y="350215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981944" y="350215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766560" y="38679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SCR-005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680960" y="386791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 &amp; 팀 관리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9555480" y="386791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0268712" y="386791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10981944" y="386791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766560" y="4233672"/>
            <a:ext cx="4937760" cy="365760"/>
          </a:xfrm>
          <a:prstGeom prst="rect">
            <a:avLst/>
          </a:prstGeom>
          <a:solidFill>
            <a:srgbClr val="141B2E"/>
          </a:solidFill>
          <a:ln/>
        </p:spPr>
      </p:sp>
      <p:sp>
        <p:nvSpPr>
          <p:cNvPr id="66" name="Text 64"/>
          <p:cNvSpPr/>
          <p:nvPr/>
        </p:nvSpPr>
        <p:spPr>
          <a:xfrm>
            <a:off x="6766560" y="42336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SCR-006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680960" y="42336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선수 배정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9555480" y="423367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0268712" y="423367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10981944" y="423367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766560" y="45994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SCR-007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7680960" y="45994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경기 스탯 입력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9555480" y="459943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10268712" y="459943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10981944" y="459943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2026-07-30T02:41:34Z</dcterms:created>
  <dcterms:modified xsi:type="dcterms:W3CDTF">2026-07-30T02:41:34Z</dcterms:modified>
</cp:coreProperties>
</file>